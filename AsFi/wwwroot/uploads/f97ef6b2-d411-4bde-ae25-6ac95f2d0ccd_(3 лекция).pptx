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52"/>
  </p:notesMasterIdLst>
  <p:sldIdLst>
    <p:sldId id="256" r:id="rId2"/>
    <p:sldId id="345" r:id="rId3"/>
    <p:sldId id="343" r:id="rId4"/>
    <p:sldId id="346" r:id="rId5"/>
    <p:sldId id="347" r:id="rId6"/>
    <p:sldId id="348" r:id="rId7"/>
    <p:sldId id="349" r:id="rId8"/>
    <p:sldId id="350" r:id="rId9"/>
    <p:sldId id="351" r:id="rId10"/>
    <p:sldId id="352" r:id="rId11"/>
    <p:sldId id="354" r:id="rId12"/>
    <p:sldId id="353" r:id="rId13"/>
    <p:sldId id="355" r:id="rId14"/>
    <p:sldId id="356" r:id="rId15"/>
    <p:sldId id="357" r:id="rId16"/>
    <p:sldId id="358" r:id="rId17"/>
    <p:sldId id="359" r:id="rId18"/>
    <p:sldId id="360" r:id="rId19"/>
    <p:sldId id="361" r:id="rId20"/>
    <p:sldId id="362" r:id="rId21"/>
    <p:sldId id="363" r:id="rId22"/>
    <p:sldId id="364" r:id="rId23"/>
    <p:sldId id="365" r:id="rId24"/>
    <p:sldId id="366" r:id="rId25"/>
    <p:sldId id="367" r:id="rId26"/>
    <p:sldId id="368" r:id="rId27"/>
    <p:sldId id="369" r:id="rId28"/>
    <p:sldId id="370" r:id="rId29"/>
    <p:sldId id="371" r:id="rId30"/>
    <p:sldId id="372" r:id="rId31"/>
    <p:sldId id="373" r:id="rId32"/>
    <p:sldId id="374" r:id="rId33"/>
    <p:sldId id="375" r:id="rId34"/>
    <p:sldId id="376" r:id="rId35"/>
    <p:sldId id="377" r:id="rId36"/>
    <p:sldId id="378" r:id="rId37"/>
    <p:sldId id="379" r:id="rId38"/>
    <p:sldId id="380" r:id="rId39"/>
    <p:sldId id="381" r:id="rId40"/>
    <p:sldId id="382" r:id="rId41"/>
    <p:sldId id="383" r:id="rId42"/>
    <p:sldId id="384" r:id="rId43"/>
    <p:sldId id="385" r:id="rId44"/>
    <p:sldId id="386" r:id="rId45"/>
    <p:sldId id="387" r:id="rId46"/>
    <p:sldId id="388" r:id="rId47"/>
    <p:sldId id="389" r:id="rId48"/>
    <p:sldId id="390" r:id="rId49"/>
    <p:sldId id="391" r:id="rId50"/>
    <p:sldId id="344"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Средний стиль 2 — акцент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660B408-B3CF-4A94-85FC-2B1E0A45F4A2}" styleName="Темный стиль 2 — акцент 1/акцент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Темный стиль 2 — акцент 3/акцент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Темный стиль 2 — акцент 5/акцент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202B0CA-FC54-4496-8BCA-5EF66A818D29}" styleName="Темный стиль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E25E649-3F16-4E02-A733-19D2CDBF48F0}" styleName="Средний стиль 3 — акцент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EEAEA7-D491-49FA-ADB6-4EBC8C832380}" type="datetimeFigureOut">
              <a:rPr lang="ru-RU" smtClean="0"/>
              <a:t>28.08.2024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5E438E-305B-4B70-A04C-B1274745A4C8}" type="slidenum">
              <a:rPr lang="ru-RU" smtClean="0"/>
              <a:t>‹#›</a:t>
            </a:fld>
            <a:endParaRPr lang="ru-RU"/>
          </a:p>
        </p:txBody>
      </p:sp>
    </p:spTree>
    <p:extLst>
      <p:ext uri="{BB962C8B-B14F-4D97-AF65-F5344CB8AC3E}">
        <p14:creationId xmlns:p14="http://schemas.microsoft.com/office/powerpoint/2010/main" val="3072973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2</a:t>
            </a:fld>
            <a:endParaRPr lang="ru-RU"/>
          </a:p>
        </p:txBody>
      </p:sp>
    </p:spTree>
    <p:extLst>
      <p:ext uri="{BB962C8B-B14F-4D97-AF65-F5344CB8AC3E}">
        <p14:creationId xmlns:p14="http://schemas.microsoft.com/office/powerpoint/2010/main" val="7995138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3</a:t>
            </a:fld>
            <a:endParaRPr lang="ru-RU"/>
          </a:p>
        </p:txBody>
      </p:sp>
    </p:spTree>
    <p:extLst>
      <p:ext uri="{BB962C8B-B14F-4D97-AF65-F5344CB8AC3E}">
        <p14:creationId xmlns:p14="http://schemas.microsoft.com/office/powerpoint/2010/main" val="34620351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4</a:t>
            </a:fld>
            <a:endParaRPr lang="ru-RU"/>
          </a:p>
        </p:txBody>
      </p:sp>
    </p:spTree>
    <p:extLst>
      <p:ext uri="{BB962C8B-B14F-4D97-AF65-F5344CB8AC3E}">
        <p14:creationId xmlns:p14="http://schemas.microsoft.com/office/powerpoint/2010/main" val="1310774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5</a:t>
            </a:fld>
            <a:endParaRPr lang="ru-RU"/>
          </a:p>
        </p:txBody>
      </p:sp>
    </p:spTree>
    <p:extLst>
      <p:ext uri="{BB962C8B-B14F-4D97-AF65-F5344CB8AC3E}">
        <p14:creationId xmlns:p14="http://schemas.microsoft.com/office/powerpoint/2010/main" val="2943415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6</a:t>
            </a:fld>
            <a:endParaRPr lang="ru-RU"/>
          </a:p>
        </p:txBody>
      </p:sp>
    </p:spTree>
    <p:extLst>
      <p:ext uri="{BB962C8B-B14F-4D97-AF65-F5344CB8AC3E}">
        <p14:creationId xmlns:p14="http://schemas.microsoft.com/office/powerpoint/2010/main" val="3072900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7</a:t>
            </a:fld>
            <a:endParaRPr lang="ru-RU"/>
          </a:p>
        </p:txBody>
      </p:sp>
    </p:spTree>
    <p:extLst>
      <p:ext uri="{BB962C8B-B14F-4D97-AF65-F5344CB8AC3E}">
        <p14:creationId xmlns:p14="http://schemas.microsoft.com/office/powerpoint/2010/main" val="5712402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8</a:t>
            </a:fld>
            <a:endParaRPr lang="ru-RU"/>
          </a:p>
        </p:txBody>
      </p:sp>
    </p:spTree>
    <p:extLst>
      <p:ext uri="{BB962C8B-B14F-4D97-AF65-F5344CB8AC3E}">
        <p14:creationId xmlns:p14="http://schemas.microsoft.com/office/powerpoint/2010/main" val="5675440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9</a:t>
            </a:fld>
            <a:endParaRPr lang="ru-RU"/>
          </a:p>
        </p:txBody>
      </p:sp>
    </p:spTree>
    <p:extLst>
      <p:ext uri="{BB962C8B-B14F-4D97-AF65-F5344CB8AC3E}">
        <p14:creationId xmlns:p14="http://schemas.microsoft.com/office/powerpoint/2010/main" val="4280544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10</a:t>
            </a:fld>
            <a:endParaRPr lang="ru-RU"/>
          </a:p>
        </p:txBody>
      </p:sp>
    </p:spTree>
    <p:extLst>
      <p:ext uri="{BB962C8B-B14F-4D97-AF65-F5344CB8AC3E}">
        <p14:creationId xmlns:p14="http://schemas.microsoft.com/office/powerpoint/2010/main" val="32839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11</a:t>
            </a:fld>
            <a:endParaRPr lang="ru-RU"/>
          </a:p>
        </p:txBody>
      </p:sp>
    </p:spTree>
    <p:extLst>
      <p:ext uri="{BB962C8B-B14F-4D97-AF65-F5344CB8AC3E}">
        <p14:creationId xmlns:p14="http://schemas.microsoft.com/office/powerpoint/2010/main" val="3391957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12</a:t>
            </a:fld>
            <a:endParaRPr lang="ru-RU"/>
          </a:p>
        </p:txBody>
      </p:sp>
    </p:spTree>
    <p:extLst>
      <p:ext uri="{BB962C8B-B14F-4D97-AF65-F5344CB8AC3E}">
        <p14:creationId xmlns:p14="http://schemas.microsoft.com/office/powerpoint/2010/main" val="10609673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13</a:t>
            </a:fld>
            <a:endParaRPr lang="ru-RU"/>
          </a:p>
        </p:txBody>
      </p:sp>
    </p:spTree>
    <p:extLst>
      <p:ext uri="{BB962C8B-B14F-4D97-AF65-F5344CB8AC3E}">
        <p14:creationId xmlns:p14="http://schemas.microsoft.com/office/powerpoint/2010/main" val="14921745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14</a:t>
            </a:fld>
            <a:endParaRPr lang="ru-RU"/>
          </a:p>
        </p:txBody>
      </p:sp>
    </p:spTree>
    <p:extLst>
      <p:ext uri="{BB962C8B-B14F-4D97-AF65-F5344CB8AC3E}">
        <p14:creationId xmlns:p14="http://schemas.microsoft.com/office/powerpoint/2010/main" val="2340815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15</a:t>
            </a:fld>
            <a:endParaRPr lang="ru-RU"/>
          </a:p>
        </p:txBody>
      </p:sp>
    </p:spTree>
    <p:extLst>
      <p:ext uri="{BB962C8B-B14F-4D97-AF65-F5344CB8AC3E}">
        <p14:creationId xmlns:p14="http://schemas.microsoft.com/office/powerpoint/2010/main" val="37691481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16</a:t>
            </a:fld>
            <a:endParaRPr lang="ru-RU"/>
          </a:p>
        </p:txBody>
      </p:sp>
    </p:spTree>
    <p:extLst>
      <p:ext uri="{BB962C8B-B14F-4D97-AF65-F5344CB8AC3E}">
        <p14:creationId xmlns:p14="http://schemas.microsoft.com/office/powerpoint/2010/main" val="10018844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17</a:t>
            </a:fld>
            <a:endParaRPr lang="ru-RU"/>
          </a:p>
        </p:txBody>
      </p:sp>
    </p:spTree>
    <p:extLst>
      <p:ext uri="{BB962C8B-B14F-4D97-AF65-F5344CB8AC3E}">
        <p14:creationId xmlns:p14="http://schemas.microsoft.com/office/powerpoint/2010/main" val="21597880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18</a:t>
            </a:fld>
            <a:endParaRPr lang="ru-RU"/>
          </a:p>
        </p:txBody>
      </p:sp>
    </p:spTree>
    <p:extLst>
      <p:ext uri="{BB962C8B-B14F-4D97-AF65-F5344CB8AC3E}">
        <p14:creationId xmlns:p14="http://schemas.microsoft.com/office/powerpoint/2010/main" val="40816557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19</a:t>
            </a:fld>
            <a:endParaRPr lang="ru-RU"/>
          </a:p>
        </p:txBody>
      </p:sp>
    </p:spTree>
    <p:extLst>
      <p:ext uri="{BB962C8B-B14F-4D97-AF65-F5344CB8AC3E}">
        <p14:creationId xmlns:p14="http://schemas.microsoft.com/office/powerpoint/2010/main" val="9245461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20</a:t>
            </a:fld>
            <a:endParaRPr lang="ru-RU"/>
          </a:p>
        </p:txBody>
      </p:sp>
    </p:spTree>
    <p:extLst>
      <p:ext uri="{BB962C8B-B14F-4D97-AF65-F5344CB8AC3E}">
        <p14:creationId xmlns:p14="http://schemas.microsoft.com/office/powerpoint/2010/main" val="4236197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21</a:t>
            </a:fld>
            <a:endParaRPr lang="ru-RU"/>
          </a:p>
        </p:txBody>
      </p:sp>
    </p:spTree>
    <p:extLst>
      <p:ext uri="{BB962C8B-B14F-4D97-AF65-F5344CB8AC3E}">
        <p14:creationId xmlns:p14="http://schemas.microsoft.com/office/powerpoint/2010/main" val="39748502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22</a:t>
            </a:fld>
            <a:endParaRPr lang="ru-RU"/>
          </a:p>
        </p:txBody>
      </p:sp>
    </p:spTree>
    <p:extLst>
      <p:ext uri="{BB962C8B-B14F-4D97-AF65-F5344CB8AC3E}">
        <p14:creationId xmlns:p14="http://schemas.microsoft.com/office/powerpoint/2010/main" val="4029523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23</a:t>
            </a:fld>
            <a:endParaRPr lang="ru-RU"/>
          </a:p>
        </p:txBody>
      </p:sp>
    </p:spTree>
    <p:extLst>
      <p:ext uri="{BB962C8B-B14F-4D97-AF65-F5344CB8AC3E}">
        <p14:creationId xmlns:p14="http://schemas.microsoft.com/office/powerpoint/2010/main" val="4528434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24</a:t>
            </a:fld>
            <a:endParaRPr lang="ru-RU"/>
          </a:p>
        </p:txBody>
      </p:sp>
    </p:spTree>
    <p:extLst>
      <p:ext uri="{BB962C8B-B14F-4D97-AF65-F5344CB8AC3E}">
        <p14:creationId xmlns:p14="http://schemas.microsoft.com/office/powerpoint/2010/main" val="34758135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25</a:t>
            </a:fld>
            <a:endParaRPr lang="ru-RU"/>
          </a:p>
        </p:txBody>
      </p:sp>
    </p:spTree>
    <p:extLst>
      <p:ext uri="{BB962C8B-B14F-4D97-AF65-F5344CB8AC3E}">
        <p14:creationId xmlns:p14="http://schemas.microsoft.com/office/powerpoint/2010/main" val="32560294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26</a:t>
            </a:fld>
            <a:endParaRPr lang="ru-RU"/>
          </a:p>
        </p:txBody>
      </p:sp>
    </p:spTree>
    <p:extLst>
      <p:ext uri="{BB962C8B-B14F-4D97-AF65-F5344CB8AC3E}">
        <p14:creationId xmlns:p14="http://schemas.microsoft.com/office/powerpoint/2010/main" val="12017876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27</a:t>
            </a:fld>
            <a:endParaRPr lang="ru-RU"/>
          </a:p>
        </p:txBody>
      </p:sp>
    </p:spTree>
    <p:extLst>
      <p:ext uri="{BB962C8B-B14F-4D97-AF65-F5344CB8AC3E}">
        <p14:creationId xmlns:p14="http://schemas.microsoft.com/office/powerpoint/2010/main" val="29672969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28</a:t>
            </a:fld>
            <a:endParaRPr lang="ru-RU"/>
          </a:p>
        </p:txBody>
      </p:sp>
    </p:spTree>
    <p:extLst>
      <p:ext uri="{BB962C8B-B14F-4D97-AF65-F5344CB8AC3E}">
        <p14:creationId xmlns:p14="http://schemas.microsoft.com/office/powerpoint/2010/main" val="41250514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29</a:t>
            </a:fld>
            <a:endParaRPr lang="ru-RU"/>
          </a:p>
        </p:txBody>
      </p:sp>
    </p:spTree>
    <p:extLst>
      <p:ext uri="{BB962C8B-B14F-4D97-AF65-F5344CB8AC3E}">
        <p14:creationId xmlns:p14="http://schemas.microsoft.com/office/powerpoint/2010/main" val="5391554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30</a:t>
            </a:fld>
            <a:endParaRPr lang="ru-RU"/>
          </a:p>
        </p:txBody>
      </p:sp>
    </p:spTree>
    <p:extLst>
      <p:ext uri="{BB962C8B-B14F-4D97-AF65-F5344CB8AC3E}">
        <p14:creationId xmlns:p14="http://schemas.microsoft.com/office/powerpoint/2010/main" val="5659904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31</a:t>
            </a:fld>
            <a:endParaRPr lang="ru-RU"/>
          </a:p>
        </p:txBody>
      </p:sp>
    </p:spTree>
    <p:extLst>
      <p:ext uri="{BB962C8B-B14F-4D97-AF65-F5344CB8AC3E}">
        <p14:creationId xmlns:p14="http://schemas.microsoft.com/office/powerpoint/2010/main" val="42473485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32</a:t>
            </a:fld>
            <a:endParaRPr lang="ru-RU"/>
          </a:p>
        </p:txBody>
      </p:sp>
    </p:spTree>
    <p:extLst>
      <p:ext uri="{BB962C8B-B14F-4D97-AF65-F5344CB8AC3E}">
        <p14:creationId xmlns:p14="http://schemas.microsoft.com/office/powerpoint/2010/main" val="3362045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33</a:t>
            </a:fld>
            <a:endParaRPr lang="ru-RU"/>
          </a:p>
        </p:txBody>
      </p:sp>
    </p:spTree>
    <p:extLst>
      <p:ext uri="{BB962C8B-B14F-4D97-AF65-F5344CB8AC3E}">
        <p14:creationId xmlns:p14="http://schemas.microsoft.com/office/powerpoint/2010/main" val="3458153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34</a:t>
            </a:fld>
            <a:endParaRPr lang="ru-RU"/>
          </a:p>
        </p:txBody>
      </p:sp>
    </p:spTree>
    <p:extLst>
      <p:ext uri="{BB962C8B-B14F-4D97-AF65-F5344CB8AC3E}">
        <p14:creationId xmlns:p14="http://schemas.microsoft.com/office/powerpoint/2010/main" val="19665455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35</a:t>
            </a:fld>
            <a:endParaRPr lang="ru-RU"/>
          </a:p>
        </p:txBody>
      </p:sp>
    </p:spTree>
    <p:extLst>
      <p:ext uri="{BB962C8B-B14F-4D97-AF65-F5344CB8AC3E}">
        <p14:creationId xmlns:p14="http://schemas.microsoft.com/office/powerpoint/2010/main" val="26699000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36</a:t>
            </a:fld>
            <a:endParaRPr lang="ru-RU"/>
          </a:p>
        </p:txBody>
      </p:sp>
    </p:spTree>
    <p:extLst>
      <p:ext uri="{BB962C8B-B14F-4D97-AF65-F5344CB8AC3E}">
        <p14:creationId xmlns:p14="http://schemas.microsoft.com/office/powerpoint/2010/main" val="12844296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37</a:t>
            </a:fld>
            <a:endParaRPr lang="ru-RU"/>
          </a:p>
        </p:txBody>
      </p:sp>
    </p:spTree>
    <p:extLst>
      <p:ext uri="{BB962C8B-B14F-4D97-AF65-F5344CB8AC3E}">
        <p14:creationId xmlns:p14="http://schemas.microsoft.com/office/powerpoint/2010/main" val="30769235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38</a:t>
            </a:fld>
            <a:endParaRPr lang="ru-RU"/>
          </a:p>
        </p:txBody>
      </p:sp>
    </p:spTree>
    <p:extLst>
      <p:ext uri="{BB962C8B-B14F-4D97-AF65-F5344CB8AC3E}">
        <p14:creationId xmlns:p14="http://schemas.microsoft.com/office/powerpoint/2010/main" val="3729419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39</a:t>
            </a:fld>
            <a:endParaRPr lang="ru-RU"/>
          </a:p>
        </p:txBody>
      </p:sp>
    </p:spTree>
    <p:extLst>
      <p:ext uri="{BB962C8B-B14F-4D97-AF65-F5344CB8AC3E}">
        <p14:creationId xmlns:p14="http://schemas.microsoft.com/office/powerpoint/2010/main" val="5805285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40</a:t>
            </a:fld>
            <a:endParaRPr lang="ru-RU"/>
          </a:p>
        </p:txBody>
      </p:sp>
    </p:spTree>
    <p:extLst>
      <p:ext uri="{BB962C8B-B14F-4D97-AF65-F5344CB8AC3E}">
        <p14:creationId xmlns:p14="http://schemas.microsoft.com/office/powerpoint/2010/main" val="41506699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41</a:t>
            </a:fld>
            <a:endParaRPr lang="ru-RU"/>
          </a:p>
        </p:txBody>
      </p:sp>
    </p:spTree>
    <p:extLst>
      <p:ext uri="{BB962C8B-B14F-4D97-AF65-F5344CB8AC3E}">
        <p14:creationId xmlns:p14="http://schemas.microsoft.com/office/powerpoint/2010/main" val="2735596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42</a:t>
            </a:fld>
            <a:endParaRPr lang="ru-RU"/>
          </a:p>
        </p:txBody>
      </p:sp>
    </p:spTree>
    <p:extLst>
      <p:ext uri="{BB962C8B-B14F-4D97-AF65-F5344CB8AC3E}">
        <p14:creationId xmlns:p14="http://schemas.microsoft.com/office/powerpoint/2010/main" val="15353628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43</a:t>
            </a:fld>
            <a:endParaRPr lang="ru-RU"/>
          </a:p>
        </p:txBody>
      </p:sp>
    </p:spTree>
    <p:extLst>
      <p:ext uri="{BB962C8B-B14F-4D97-AF65-F5344CB8AC3E}">
        <p14:creationId xmlns:p14="http://schemas.microsoft.com/office/powerpoint/2010/main" val="41890125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44</a:t>
            </a:fld>
            <a:endParaRPr lang="ru-RU"/>
          </a:p>
        </p:txBody>
      </p:sp>
    </p:spTree>
    <p:extLst>
      <p:ext uri="{BB962C8B-B14F-4D97-AF65-F5344CB8AC3E}">
        <p14:creationId xmlns:p14="http://schemas.microsoft.com/office/powerpoint/2010/main" val="15985843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45</a:t>
            </a:fld>
            <a:endParaRPr lang="ru-RU"/>
          </a:p>
        </p:txBody>
      </p:sp>
    </p:spTree>
    <p:extLst>
      <p:ext uri="{BB962C8B-B14F-4D97-AF65-F5344CB8AC3E}">
        <p14:creationId xmlns:p14="http://schemas.microsoft.com/office/powerpoint/2010/main" val="1747105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46</a:t>
            </a:fld>
            <a:endParaRPr lang="ru-RU"/>
          </a:p>
        </p:txBody>
      </p:sp>
    </p:spTree>
    <p:extLst>
      <p:ext uri="{BB962C8B-B14F-4D97-AF65-F5344CB8AC3E}">
        <p14:creationId xmlns:p14="http://schemas.microsoft.com/office/powerpoint/2010/main" val="12773638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47</a:t>
            </a:fld>
            <a:endParaRPr lang="ru-RU"/>
          </a:p>
        </p:txBody>
      </p:sp>
    </p:spTree>
    <p:extLst>
      <p:ext uri="{BB962C8B-B14F-4D97-AF65-F5344CB8AC3E}">
        <p14:creationId xmlns:p14="http://schemas.microsoft.com/office/powerpoint/2010/main" val="4290386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48</a:t>
            </a:fld>
            <a:endParaRPr lang="ru-RU"/>
          </a:p>
        </p:txBody>
      </p:sp>
    </p:spTree>
    <p:extLst>
      <p:ext uri="{BB962C8B-B14F-4D97-AF65-F5344CB8AC3E}">
        <p14:creationId xmlns:p14="http://schemas.microsoft.com/office/powerpoint/2010/main" val="32880943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E5E438E-305B-4B70-A04C-B1274745A4C8}" type="slidenum">
              <a:rPr lang="ru-RU" smtClean="0"/>
              <a:t>49</a:t>
            </a:fld>
            <a:endParaRPr lang="ru-RU"/>
          </a:p>
        </p:txBody>
      </p:sp>
    </p:spTree>
    <p:extLst>
      <p:ext uri="{BB962C8B-B14F-4D97-AF65-F5344CB8AC3E}">
        <p14:creationId xmlns:p14="http://schemas.microsoft.com/office/powerpoint/2010/main" val="108946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ru-RU"/>
              <a:t>Образец заголовка</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B5396445-75B5-4428-99A8-B1C3E39F1D0B}" type="datetimeFigureOut">
              <a:rPr lang="ru-RU" smtClean="0"/>
              <a:t>28.08.2024</a:t>
            </a:fld>
            <a:endParaRPr lang="ru-RU"/>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ru-RU"/>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B34C5C5D-9415-41A2-AA35-CAD6192CE4C7}" type="slidenum">
              <a:rPr lang="ru-RU" smtClean="0"/>
              <a:t>‹#›</a:t>
            </a:fld>
            <a:endParaRPr lang="ru-RU"/>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8009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B5396445-75B5-4428-99A8-B1C3E39F1D0B}" type="datetimeFigureOut">
              <a:rPr lang="ru-RU" smtClean="0"/>
              <a:t>28.08.2024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34C5C5D-9415-41A2-AA35-CAD6192CE4C7}" type="slidenum">
              <a:rPr lang="ru-RU" smtClean="0"/>
              <a:t>‹#›</a:t>
            </a:fld>
            <a:endParaRPr lang="ru-RU"/>
          </a:p>
        </p:txBody>
      </p:sp>
    </p:spTree>
    <p:extLst>
      <p:ext uri="{BB962C8B-B14F-4D97-AF65-F5344CB8AC3E}">
        <p14:creationId xmlns:p14="http://schemas.microsoft.com/office/powerpoint/2010/main" val="1131311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B5396445-75B5-4428-99A8-B1C3E39F1D0B}" type="datetimeFigureOut">
              <a:rPr lang="ru-RU" smtClean="0"/>
              <a:t>28.08.2024</a:t>
            </a:fld>
            <a:endParaRPr lang="ru-RU"/>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ru-RU"/>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B34C5C5D-9415-41A2-AA35-CAD6192CE4C7}" type="slidenum">
              <a:rPr lang="ru-RU" smtClean="0"/>
              <a:t>‹#›</a:t>
            </a:fld>
            <a:endParaRPr lang="ru-RU"/>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45687741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B5396445-75B5-4428-99A8-B1C3E39F1D0B}" type="datetimeFigureOut">
              <a:rPr lang="ru-RU" smtClean="0"/>
              <a:t>28.08.2024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34C5C5D-9415-41A2-AA35-CAD6192CE4C7}" type="slidenum">
              <a:rPr lang="ru-RU" smtClean="0"/>
              <a:t>‹#›</a:t>
            </a:fld>
            <a:endParaRPr lang="ru-RU"/>
          </a:p>
        </p:txBody>
      </p:sp>
    </p:spTree>
    <p:extLst>
      <p:ext uri="{BB962C8B-B14F-4D97-AF65-F5344CB8AC3E}">
        <p14:creationId xmlns:p14="http://schemas.microsoft.com/office/powerpoint/2010/main" val="220628277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257300" y="2909102"/>
            <a:ext cx="4800600" cy="299639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633864" y="2909102"/>
            <a:ext cx="4800600" cy="299639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B5396445-75B5-4428-99A8-B1C3E39F1D0B}" type="datetimeFigureOut">
              <a:rPr lang="ru-RU" smtClean="0"/>
              <a:t>28.08.2024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34C5C5D-9415-41A2-AA35-CAD6192CE4C7}" type="slidenum">
              <a:rPr lang="ru-RU" smtClean="0"/>
              <a:t>‹#›</a:t>
            </a:fld>
            <a:endParaRPr lang="ru-RU"/>
          </a:p>
        </p:txBody>
      </p:sp>
    </p:spTree>
    <p:extLst>
      <p:ext uri="{BB962C8B-B14F-4D97-AF65-F5344CB8AC3E}">
        <p14:creationId xmlns:p14="http://schemas.microsoft.com/office/powerpoint/2010/main" val="373050599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B5396445-75B5-4428-99A8-B1C3E39F1D0B}" type="datetimeFigureOut">
              <a:rPr lang="ru-RU" smtClean="0"/>
              <a:t>28.08.2024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34C5C5D-9415-41A2-AA35-CAD6192CE4C7}" type="slidenum">
              <a:rPr lang="ru-RU" smtClean="0"/>
              <a:t>‹#›</a:t>
            </a:fld>
            <a:endParaRPr lang="ru-RU"/>
          </a:p>
        </p:txBody>
      </p:sp>
    </p:spTree>
    <p:extLst>
      <p:ext uri="{BB962C8B-B14F-4D97-AF65-F5344CB8AC3E}">
        <p14:creationId xmlns:p14="http://schemas.microsoft.com/office/powerpoint/2010/main" val="3518726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396445-75B5-4428-99A8-B1C3E39F1D0B}" type="datetimeFigureOut">
              <a:rPr lang="ru-RU" smtClean="0"/>
              <a:t>28.08.2024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34C5C5D-9415-41A2-AA35-CAD6192CE4C7}" type="slidenum">
              <a:rPr lang="ru-RU" smtClean="0"/>
              <a:t>‹#›</a:t>
            </a:fld>
            <a:endParaRPr lang="ru-RU"/>
          </a:p>
        </p:txBody>
      </p:sp>
    </p:spTree>
    <p:extLst>
      <p:ext uri="{BB962C8B-B14F-4D97-AF65-F5344CB8AC3E}">
        <p14:creationId xmlns:p14="http://schemas.microsoft.com/office/powerpoint/2010/main" val="811930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ru-RU"/>
              <a:t>Образец заголовка</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65051" y="6375679"/>
            <a:ext cx="1233355" cy="348462"/>
          </a:xfrm>
        </p:spPr>
        <p:txBody>
          <a:bodyPr/>
          <a:lstStyle/>
          <a:p>
            <a:fld id="{B5396445-75B5-4428-99A8-B1C3E39F1D0B}" type="datetimeFigureOut">
              <a:rPr lang="ru-RU" smtClean="0"/>
              <a:t>28.08.2024</a:t>
            </a:fld>
            <a:endParaRPr lang="ru-RU"/>
          </a:p>
        </p:txBody>
      </p:sp>
      <p:sp>
        <p:nvSpPr>
          <p:cNvPr id="6" name="Footer Placeholder 5"/>
          <p:cNvSpPr>
            <a:spLocks noGrp="1"/>
          </p:cNvSpPr>
          <p:nvPr>
            <p:ph type="ftr" sz="quarter" idx="11"/>
          </p:nvPr>
        </p:nvSpPr>
        <p:spPr>
          <a:xfrm>
            <a:off x="2103620" y="6375679"/>
            <a:ext cx="3482179" cy="345796"/>
          </a:xfrm>
        </p:spPr>
        <p:txBody>
          <a:bodyPr/>
          <a:lstStyle/>
          <a:p>
            <a:endParaRPr lang="ru-RU"/>
          </a:p>
        </p:txBody>
      </p:sp>
      <p:sp>
        <p:nvSpPr>
          <p:cNvPr id="7" name="Slide Number Placeholder 6"/>
          <p:cNvSpPr>
            <a:spLocks noGrp="1"/>
          </p:cNvSpPr>
          <p:nvPr>
            <p:ph type="sldNum" sz="quarter" idx="12"/>
          </p:nvPr>
        </p:nvSpPr>
        <p:spPr>
          <a:xfrm>
            <a:off x="5691014" y="6375679"/>
            <a:ext cx="1232456" cy="345796"/>
          </a:xfrm>
        </p:spPr>
        <p:txBody>
          <a:bodyPr/>
          <a:lstStyle/>
          <a:p>
            <a:fld id="{B34C5C5D-9415-41A2-AA35-CAD6192CE4C7}" type="slidenum">
              <a:rPr lang="ru-RU" smtClean="0"/>
              <a:t>‹#›</a:t>
            </a:fld>
            <a:endParaRPr lang="ru-RU"/>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25184434"/>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ru-RU"/>
              <a:t>Образец заголовка</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65950" y="6375679"/>
            <a:ext cx="1232456" cy="348462"/>
          </a:xfrm>
        </p:spPr>
        <p:txBody>
          <a:bodyPr/>
          <a:lstStyle/>
          <a:p>
            <a:fld id="{B5396445-75B5-4428-99A8-B1C3E39F1D0B}" type="datetimeFigureOut">
              <a:rPr lang="ru-RU" smtClean="0"/>
              <a:t>28.08.2024</a:t>
            </a:fld>
            <a:endParaRPr lang="ru-RU"/>
          </a:p>
        </p:txBody>
      </p:sp>
      <p:sp>
        <p:nvSpPr>
          <p:cNvPr id="6" name="Footer Placeholder 5"/>
          <p:cNvSpPr>
            <a:spLocks noGrp="1"/>
          </p:cNvSpPr>
          <p:nvPr>
            <p:ph type="ftr" sz="quarter" idx="11"/>
          </p:nvPr>
        </p:nvSpPr>
        <p:spPr>
          <a:xfrm>
            <a:off x="2103621" y="6375679"/>
            <a:ext cx="3482178" cy="345796"/>
          </a:xfrm>
        </p:spPr>
        <p:txBody>
          <a:bodyPr/>
          <a:lstStyle/>
          <a:p>
            <a:endParaRPr lang="ru-RU"/>
          </a:p>
        </p:txBody>
      </p:sp>
      <p:sp>
        <p:nvSpPr>
          <p:cNvPr id="7" name="Slide Number Placeholder 6"/>
          <p:cNvSpPr>
            <a:spLocks noGrp="1"/>
          </p:cNvSpPr>
          <p:nvPr>
            <p:ph type="sldNum" sz="quarter" idx="12"/>
          </p:nvPr>
        </p:nvSpPr>
        <p:spPr>
          <a:xfrm>
            <a:off x="5687568" y="6375679"/>
            <a:ext cx="1234440" cy="345796"/>
          </a:xfrm>
        </p:spPr>
        <p:txBody>
          <a:bodyPr/>
          <a:lstStyle/>
          <a:p>
            <a:fld id="{B34C5C5D-9415-41A2-AA35-CAD6192CE4C7}" type="slidenum">
              <a:rPr lang="ru-RU" smtClean="0"/>
              <a:t>‹#›</a:t>
            </a:fld>
            <a:endParaRPr lang="ru-RU"/>
          </a:p>
        </p:txBody>
      </p:sp>
    </p:spTree>
    <p:extLst>
      <p:ext uri="{BB962C8B-B14F-4D97-AF65-F5344CB8AC3E}">
        <p14:creationId xmlns:p14="http://schemas.microsoft.com/office/powerpoint/2010/main" val="137494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B5396445-75B5-4428-99A8-B1C3E39F1D0B}" type="datetimeFigureOut">
              <a:rPr lang="ru-RU" smtClean="0"/>
              <a:t>28.08.2024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34C5C5D-9415-41A2-AA35-CAD6192CE4C7}" type="slidenum">
              <a:rPr lang="ru-RU" smtClean="0"/>
              <a:t>‹#›</a:t>
            </a:fld>
            <a:endParaRPr lang="ru-RU"/>
          </a:p>
        </p:txBody>
      </p:sp>
    </p:spTree>
    <p:extLst>
      <p:ext uri="{BB962C8B-B14F-4D97-AF65-F5344CB8AC3E}">
        <p14:creationId xmlns:p14="http://schemas.microsoft.com/office/powerpoint/2010/main" val="2950865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B5396445-75B5-4428-99A8-B1C3E39F1D0B}" type="datetimeFigureOut">
              <a:rPr lang="ru-RU" smtClean="0"/>
              <a:t>28.08.2024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34C5C5D-9415-41A2-AA35-CAD6192CE4C7}" type="slidenum">
              <a:rPr lang="ru-RU" smtClean="0"/>
              <a:t>‹#›</a:t>
            </a:fld>
            <a:endParaRPr lang="ru-RU"/>
          </a:p>
        </p:txBody>
      </p:sp>
    </p:spTree>
    <p:extLst>
      <p:ext uri="{BB962C8B-B14F-4D97-AF65-F5344CB8AC3E}">
        <p14:creationId xmlns:p14="http://schemas.microsoft.com/office/powerpoint/2010/main" val="995942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B5396445-75B5-4428-99A8-B1C3E39F1D0B}" type="datetimeFigureOut">
              <a:rPr lang="ru-RU" smtClean="0"/>
              <a:t>28.08.2024</a:t>
            </a:fld>
            <a:endParaRPr lang="ru-RU"/>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ru-RU"/>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B34C5C5D-9415-41A2-AA35-CAD6192CE4C7}" type="slidenum">
              <a:rPr lang="ru-RU" smtClean="0"/>
              <a:t>‹#›</a:t>
            </a:fld>
            <a:endParaRPr lang="ru-RU"/>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6504431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8507AA5-CBB5-2AAF-7BF9-E2A22D777AD7}"/>
              </a:ext>
            </a:extLst>
          </p:cNvPr>
          <p:cNvSpPr>
            <a:spLocks noGrp="1"/>
          </p:cNvSpPr>
          <p:nvPr>
            <p:ph type="ctrTitle"/>
          </p:nvPr>
        </p:nvSpPr>
        <p:spPr>
          <a:xfrm>
            <a:off x="1078522" y="1231506"/>
            <a:ext cx="10318418" cy="4394988"/>
          </a:xfrm>
        </p:spPr>
        <p:txBody>
          <a:bodyPr/>
          <a:lstStyle/>
          <a:p>
            <a:r>
              <a:rPr lang="ru-RU" sz="5400" cap="none" dirty="0"/>
              <a:t>КРИТЕРИИ КАЧЕСТВА ИНТЕРФЕЙСА ПОЛЬЗОВАТЕЛЯ</a:t>
            </a:r>
          </a:p>
        </p:txBody>
      </p:sp>
      <p:sp>
        <p:nvSpPr>
          <p:cNvPr id="3" name="Подзаголовок 2">
            <a:extLst>
              <a:ext uri="{FF2B5EF4-FFF2-40B4-BE49-F238E27FC236}">
                <a16:creationId xmlns:a16="http://schemas.microsoft.com/office/drawing/2014/main" id="{8B74B899-EFB5-BA7D-8645-6F80EA7FF1D1}"/>
              </a:ext>
            </a:extLst>
          </p:cNvPr>
          <p:cNvSpPr>
            <a:spLocks noGrp="1"/>
          </p:cNvSpPr>
          <p:nvPr>
            <p:ph type="subTitle" idx="1"/>
          </p:nvPr>
        </p:nvSpPr>
        <p:spPr>
          <a:xfrm>
            <a:off x="2215044" y="5892403"/>
            <a:ext cx="8045373" cy="742279"/>
          </a:xfrm>
        </p:spPr>
        <p:txBody>
          <a:bodyPr>
            <a:normAutofit fontScale="92500"/>
          </a:bodyPr>
          <a:lstStyle/>
          <a:p>
            <a:r>
              <a:rPr lang="ru-RU" sz="1800" i="0" u="none" strike="noStrike" dirty="0">
                <a:effectLst/>
                <a:latin typeface="Arial Cyr" panose="020B0604020202020204" pitchFamily="34" charset="0"/>
              </a:rPr>
              <a:t>Основы проектирования пользовательского интерфейса программного средства</a:t>
            </a:r>
            <a:endParaRPr lang="ru-RU" dirty="0"/>
          </a:p>
        </p:txBody>
      </p:sp>
    </p:spTree>
    <p:extLst>
      <p:ext uri="{BB962C8B-B14F-4D97-AF65-F5344CB8AC3E}">
        <p14:creationId xmlns:p14="http://schemas.microsoft.com/office/powerpoint/2010/main" val="4167588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089832" cy="4600419"/>
          </a:xfrm>
        </p:spPr>
        <p:txBody>
          <a:bodyPr>
            <a:normAutofit/>
          </a:bodyPr>
          <a:lstStyle/>
          <a:p>
            <a:pPr marL="0" indent="0" algn="just">
              <a:buNone/>
            </a:pPr>
            <a:r>
              <a:rPr lang="ru-RU" sz="2400" dirty="0">
                <a:solidFill>
                  <a:schemeClr val="bg2">
                    <a:lumMod val="10000"/>
                  </a:schemeClr>
                </a:solidFill>
              </a:rPr>
              <a:t>Существует </a:t>
            </a:r>
            <a:r>
              <a:rPr lang="ru-RU" sz="2400" dirty="0">
                <a:solidFill>
                  <a:schemeClr val="tx2">
                    <a:lumMod val="90000"/>
                    <a:lumOff val="10000"/>
                  </a:schemeClr>
                </a:solidFill>
              </a:rPr>
              <a:t>четыре основных критерия </a:t>
            </a:r>
            <a:r>
              <a:rPr lang="ru-RU" sz="2400" dirty="0">
                <a:solidFill>
                  <a:schemeClr val="bg2">
                    <a:lumMod val="10000"/>
                  </a:schemeClr>
                </a:solidFill>
              </a:rPr>
              <a:t>качества любого интерфейса, а именно: </a:t>
            </a:r>
          </a:p>
          <a:p>
            <a:pPr algn="just"/>
            <a:r>
              <a:rPr lang="ru-RU" sz="2400" dirty="0">
                <a:solidFill>
                  <a:schemeClr val="bg2">
                    <a:lumMod val="10000"/>
                  </a:schemeClr>
                </a:solidFill>
              </a:rPr>
              <a:t>скорость работы пользователей</a:t>
            </a:r>
          </a:p>
          <a:p>
            <a:pPr algn="just"/>
            <a:r>
              <a:rPr lang="ru-RU" sz="2400" dirty="0">
                <a:solidFill>
                  <a:schemeClr val="bg2">
                    <a:lumMod val="10000"/>
                  </a:schemeClr>
                </a:solidFill>
              </a:rPr>
              <a:t>количество человеческих ошибок</a:t>
            </a:r>
          </a:p>
          <a:p>
            <a:pPr algn="just"/>
            <a:r>
              <a:rPr lang="ru-RU" sz="2400" dirty="0">
                <a:solidFill>
                  <a:schemeClr val="bg2">
                    <a:lumMod val="10000"/>
                  </a:schemeClr>
                </a:solidFill>
              </a:rPr>
              <a:t>скорость обучения</a:t>
            </a:r>
          </a:p>
          <a:p>
            <a:pPr algn="just"/>
            <a:r>
              <a:rPr lang="ru-RU" sz="2400" dirty="0">
                <a:solidFill>
                  <a:schemeClr val="bg2">
                    <a:lumMod val="10000"/>
                  </a:schemeClr>
                </a:solidFill>
              </a:rPr>
              <a:t>субъективное удовлетворение пользователей </a:t>
            </a:r>
            <a:r>
              <a:rPr lang="ru-RU" sz="2400" dirty="0"/>
              <a:t>(соответствие интерфейса задачам пользователя – неотъемлемое свойство интерфейса)</a:t>
            </a: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3989569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089832" cy="4600419"/>
          </a:xfrm>
        </p:spPr>
        <p:txBody>
          <a:bodyPr>
            <a:normAutofit/>
          </a:bodyPr>
          <a:lstStyle/>
          <a:p>
            <a:pPr marL="0" indent="0" algn="just">
              <a:buNone/>
            </a:pPr>
            <a:r>
              <a:rPr lang="ru-RU" sz="3000" b="1" dirty="0">
                <a:solidFill>
                  <a:schemeClr val="tx2">
                    <a:lumMod val="90000"/>
                    <a:lumOff val="10000"/>
                  </a:schemeClr>
                </a:solidFill>
              </a:rPr>
              <a:t>Скорость работы пользователей</a:t>
            </a:r>
          </a:p>
          <a:p>
            <a:pPr marL="0" indent="0" algn="just">
              <a:buNone/>
            </a:pPr>
            <a:endParaRPr lang="ru-RU" sz="100" b="1" dirty="0">
              <a:solidFill>
                <a:schemeClr val="tx2">
                  <a:lumMod val="90000"/>
                  <a:lumOff val="10000"/>
                </a:schemeClr>
              </a:solidFill>
            </a:endParaRPr>
          </a:p>
          <a:p>
            <a:pPr marL="0" indent="0" algn="just">
              <a:buNone/>
            </a:pPr>
            <a:r>
              <a:rPr lang="ru-RU" sz="2600" dirty="0">
                <a:solidFill>
                  <a:schemeClr val="bg2">
                    <a:lumMod val="10000"/>
                  </a:schemeClr>
                </a:solidFill>
              </a:rPr>
              <a:t>Длительность выполнения работы состоит из:</a:t>
            </a:r>
          </a:p>
          <a:p>
            <a:pPr algn="just"/>
            <a:r>
              <a:rPr lang="ru-RU" sz="2400" i="1" dirty="0">
                <a:solidFill>
                  <a:schemeClr val="bg2">
                    <a:lumMod val="10000"/>
                  </a:schemeClr>
                </a:solidFill>
              </a:rPr>
              <a:t>Длительности восприятия исходной информации</a:t>
            </a:r>
          </a:p>
          <a:p>
            <a:pPr algn="just"/>
            <a:r>
              <a:rPr lang="ru-RU" sz="2400" i="1" dirty="0">
                <a:solidFill>
                  <a:schemeClr val="bg2">
                    <a:lumMod val="10000"/>
                  </a:schemeClr>
                </a:solidFill>
              </a:rPr>
              <a:t>Длительность интеллектуальной работы </a:t>
            </a:r>
          </a:p>
          <a:p>
            <a:pPr algn="just"/>
            <a:r>
              <a:rPr lang="ru-RU" sz="2400" i="1" dirty="0">
                <a:solidFill>
                  <a:schemeClr val="bg2">
                    <a:lumMod val="10000"/>
                  </a:schemeClr>
                </a:solidFill>
              </a:rPr>
              <a:t>Длительность физических действий пользователя</a:t>
            </a:r>
          </a:p>
          <a:p>
            <a:pPr algn="just"/>
            <a:r>
              <a:rPr lang="ru-RU" sz="2400" i="1" dirty="0">
                <a:solidFill>
                  <a:schemeClr val="bg2">
                    <a:lumMod val="10000"/>
                  </a:schemeClr>
                </a:solidFill>
              </a:rPr>
              <a:t>Длительность реакции системы</a:t>
            </a:r>
          </a:p>
          <a:p>
            <a:pPr algn="just"/>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pic>
        <p:nvPicPr>
          <p:cNvPr id="1026" name="Picture 2" descr="Picture background">
            <a:extLst>
              <a:ext uri="{FF2B5EF4-FFF2-40B4-BE49-F238E27FC236}">
                <a16:creationId xmlns:a16="http://schemas.microsoft.com/office/drawing/2014/main" id="{E8E283B3-E811-E168-5EB1-D83516F700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4059" y="4866968"/>
            <a:ext cx="4825941" cy="1608647"/>
          </a:xfrm>
          <a:prstGeom prst="rect">
            <a:avLst/>
          </a:prstGeom>
          <a:ln w="3175" cap="sq" cmpd="thickThin">
            <a:solidFill>
              <a:srgbClr val="000000"/>
            </a:solidFill>
            <a:prstDash val="solid"/>
            <a:miter lim="800000"/>
          </a:ln>
          <a:effectLst>
            <a:glow rad="63500">
              <a:schemeClr val="accent6">
                <a:satMod val="175000"/>
                <a:alpha val="40000"/>
              </a:schemeClr>
            </a:glow>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504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7081161" cy="4600419"/>
          </a:xfrm>
        </p:spPr>
        <p:txBody>
          <a:bodyPr>
            <a:normAutofit/>
          </a:bodyPr>
          <a:lstStyle/>
          <a:p>
            <a:pPr marL="0" indent="0" algn="just">
              <a:buNone/>
            </a:pPr>
            <a:r>
              <a:rPr lang="ru-RU" sz="3000" b="1" dirty="0">
                <a:solidFill>
                  <a:schemeClr val="tx2">
                    <a:lumMod val="90000"/>
                    <a:lumOff val="10000"/>
                  </a:schemeClr>
                </a:solidFill>
              </a:rPr>
              <a:t>Длительность восприятия исходной информации</a:t>
            </a:r>
          </a:p>
          <a:p>
            <a:pPr marL="0" indent="0" algn="just">
              <a:buNone/>
            </a:pPr>
            <a:endParaRPr lang="ru-RU" sz="100" b="1" dirty="0">
              <a:solidFill>
                <a:schemeClr val="tx2">
                  <a:lumMod val="90000"/>
                  <a:lumOff val="10000"/>
                </a:schemeClr>
              </a:solidFill>
            </a:endParaRPr>
          </a:p>
          <a:p>
            <a:pPr marL="0" indent="0" algn="just">
              <a:buNone/>
            </a:pPr>
            <a:r>
              <a:rPr lang="ru-RU" sz="2400" dirty="0">
                <a:solidFill>
                  <a:schemeClr val="bg2">
                    <a:lumMod val="10000"/>
                  </a:schemeClr>
                </a:solidFill>
              </a:rPr>
              <a:t>Пользователь должен представить себе, какая информация о выполняемой задаче у него существует, и в каком состоянии находятся средства, с помощью которых он будет решать данную задачу.</a:t>
            </a:r>
          </a:p>
          <a:p>
            <a:pPr marL="0" indent="0" algn="just">
              <a:buNone/>
            </a:pPr>
            <a:endParaRPr lang="ru-RU" sz="100" b="1" dirty="0">
              <a:solidFill>
                <a:schemeClr val="tx2">
                  <a:lumMod val="90000"/>
                  <a:lumOff val="10000"/>
                </a:schemeClr>
              </a:solidFill>
            </a:endParaRPr>
          </a:p>
        </p:txBody>
      </p:sp>
      <p:pic>
        <p:nvPicPr>
          <p:cNvPr id="2050" name="Picture 2" descr="Picture background">
            <a:extLst>
              <a:ext uri="{FF2B5EF4-FFF2-40B4-BE49-F238E27FC236}">
                <a16:creationId xmlns:a16="http://schemas.microsoft.com/office/drawing/2014/main" id="{9377B7AF-DEF2-9B62-7B9D-E6278D7BBD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9069" y="2615658"/>
            <a:ext cx="2770931" cy="2770931"/>
          </a:xfrm>
          <a:prstGeom prst="rect">
            <a:avLst/>
          </a:prstGeom>
          <a:ln w="3175" cap="sq" cmpd="thickThin">
            <a:solidFill>
              <a:srgbClr val="000000"/>
            </a:solidFill>
            <a:prstDash val="solid"/>
            <a:miter lim="800000"/>
          </a:ln>
          <a:effectLst>
            <a:glow rad="63500">
              <a:schemeClr val="accent6">
                <a:satMod val="175000"/>
                <a:alpha val="40000"/>
              </a:schemeClr>
            </a:glow>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5790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365135" cy="4600419"/>
          </a:xfrm>
        </p:spPr>
        <p:txBody>
          <a:bodyPr>
            <a:normAutofit/>
          </a:bodyPr>
          <a:lstStyle/>
          <a:p>
            <a:pPr marL="0" indent="0" algn="just">
              <a:buNone/>
            </a:pPr>
            <a:r>
              <a:rPr lang="ru-RU" sz="3000" b="1" dirty="0">
                <a:solidFill>
                  <a:schemeClr val="tx2">
                    <a:lumMod val="90000"/>
                    <a:lumOff val="10000"/>
                  </a:schemeClr>
                </a:solidFill>
              </a:rPr>
              <a:t>Длительность интеллектуальной работы</a:t>
            </a:r>
          </a:p>
          <a:p>
            <a:pPr marL="0" indent="0" algn="just">
              <a:buNone/>
            </a:pPr>
            <a:endParaRPr lang="ru-RU" sz="100" b="1" dirty="0">
              <a:solidFill>
                <a:schemeClr val="tx2">
                  <a:lumMod val="90000"/>
                  <a:lumOff val="10000"/>
                </a:schemeClr>
              </a:solidFill>
            </a:endParaRPr>
          </a:p>
          <a:p>
            <a:pPr marL="0" indent="0" algn="just">
              <a:buNone/>
            </a:pPr>
            <a:r>
              <a:rPr lang="ru-RU" sz="2400" dirty="0">
                <a:solidFill>
                  <a:schemeClr val="bg2">
                    <a:lumMod val="10000"/>
                  </a:schemeClr>
                </a:solidFill>
              </a:rPr>
              <a:t>Оценивается взаимодействие пользователя с системой (не только компьютерной) и состоит из семи шагов:</a:t>
            </a:r>
          </a:p>
          <a:p>
            <a:pPr marL="457200" indent="-457200" algn="just">
              <a:buFont typeface="+mj-lt"/>
              <a:buAutoNum type="arabicPeriod"/>
            </a:pPr>
            <a:r>
              <a:rPr lang="ru-RU" sz="2000" dirty="0">
                <a:solidFill>
                  <a:schemeClr val="bg2">
                    <a:lumMod val="10000"/>
                  </a:schemeClr>
                </a:solidFill>
              </a:rPr>
              <a:t>Формирование цели действий</a:t>
            </a:r>
          </a:p>
          <a:p>
            <a:pPr marL="457200" indent="-457200" algn="just">
              <a:buFont typeface="+mj-lt"/>
              <a:buAutoNum type="arabicPeriod"/>
            </a:pPr>
            <a:r>
              <a:rPr lang="ru-RU" sz="2000" dirty="0">
                <a:solidFill>
                  <a:schemeClr val="bg2">
                    <a:lumMod val="10000"/>
                  </a:schemeClr>
                </a:solidFill>
              </a:rPr>
              <a:t>Определение общей направленности действий</a:t>
            </a:r>
            <a:endParaRPr lang="ru-RU" dirty="0">
              <a:solidFill>
                <a:schemeClr val="bg2">
                  <a:lumMod val="10000"/>
                </a:schemeClr>
              </a:solidFill>
            </a:endParaRPr>
          </a:p>
          <a:p>
            <a:pPr marL="457200" indent="-457200" algn="just">
              <a:buFont typeface="+mj-lt"/>
              <a:buAutoNum type="arabicPeriod"/>
            </a:pPr>
            <a:r>
              <a:rPr lang="ru-RU" sz="2000" dirty="0">
                <a:solidFill>
                  <a:schemeClr val="bg2">
                    <a:lumMod val="10000"/>
                  </a:schemeClr>
                </a:solidFill>
              </a:rPr>
              <a:t>Определение конкретных действий</a:t>
            </a:r>
          </a:p>
          <a:p>
            <a:pPr marL="457200" indent="-457200" algn="just">
              <a:buFont typeface="+mj-lt"/>
              <a:buAutoNum type="arabicPeriod"/>
            </a:pPr>
            <a:r>
              <a:rPr lang="ru-RU" sz="2000" dirty="0">
                <a:solidFill>
                  <a:schemeClr val="bg2">
                    <a:lumMod val="10000"/>
                  </a:schemeClr>
                </a:solidFill>
              </a:rPr>
              <a:t>Выполнение действий</a:t>
            </a:r>
            <a:endParaRPr lang="ru-RU" dirty="0">
              <a:solidFill>
                <a:schemeClr val="bg2">
                  <a:lumMod val="10000"/>
                </a:schemeClr>
              </a:solidFill>
            </a:endParaRPr>
          </a:p>
          <a:p>
            <a:pPr marL="457200" indent="-457200" algn="just">
              <a:buFont typeface="+mj-lt"/>
              <a:buAutoNum type="arabicPeriod"/>
            </a:pPr>
            <a:r>
              <a:rPr lang="ru-RU" sz="2000" dirty="0">
                <a:solidFill>
                  <a:schemeClr val="bg2">
                    <a:lumMod val="10000"/>
                  </a:schemeClr>
                </a:solidFill>
              </a:rPr>
              <a:t>Восприятие нового состояния системы</a:t>
            </a:r>
          </a:p>
          <a:p>
            <a:pPr marL="457200" indent="-457200" algn="just">
              <a:buFont typeface="+mj-lt"/>
              <a:buAutoNum type="arabicPeriod"/>
            </a:pPr>
            <a:r>
              <a:rPr lang="ru-RU" sz="2000" dirty="0">
                <a:solidFill>
                  <a:schemeClr val="bg2">
                    <a:lumMod val="10000"/>
                  </a:schemeClr>
                </a:solidFill>
              </a:rPr>
              <a:t>Интерпретация состояния системы</a:t>
            </a:r>
            <a:endParaRPr lang="ru-RU" dirty="0">
              <a:solidFill>
                <a:schemeClr val="bg2">
                  <a:lumMod val="10000"/>
                </a:schemeClr>
              </a:solidFill>
            </a:endParaRPr>
          </a:p>
          <a:p>
            <a:pPr marL="457200" indent="-457200" algn="just">
              <a:buFont typeface="+mj-lt"/>
              <a:buAutoNum type="arabicPeriod"/>
            </a:pPr>
            <a:r>
              <a:rPr lang="ru-RU" sz="2000" dirty="0">
                <a:solidFill>
                  <a:schemeClr val="bg2">
                    <a:lumMod val="10000"/>
                  </a:schemeClr>
                </a:solidFill>
              </a:rPr>
              <a:t>Оценка результата</a:t>
            </a:r>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pic>
        <p:nvPicPr>
          <p:cNvPr id="3074" name="Picture 2" descr="Picture background">
            <a:extLst>
              <a:ext uri="{FF2B5EF4-FFF2-40B4-BE49-F238E27FC236}">
                <a16:creationId xmlns:a16="http://schemas.microsoft.com/office/drawing/2014/main" id="{B97810E0-9836-319D-CDE7-A6B47EB4BF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5064" y="3879899"/>
            <a:ext cx="3686833" cy="2124182"/>
          </a:xfrm>
          <a:prstGeom prst="rect">
            <a:avLst/>
          </a:prstGeom>
          <a:ln w="3175" cap="sq" cmpd="thickThin">
            <a:solidFill>
              <a:srgbClr val="000000"/>
            </a:solidFill>
            <a:prstDash val="solid"/>
            <a:miter lim="800000"/>
          </a:ln>
          <a:effectLst>
            <a:glow rad="63500">
              <a:schemeClr val="accent6">
                <a:satMod val="175000"/>
                <a:alpha val="40000"/>
              </a:schemeClr>
            </a:glow>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230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365135" cy="4600419"/>
          </a:xfrm>
        </p:spPr>
        <p:txBody>
          <a:bodyPr>
            <a:normAutofit/>
          </a:bodyPr>
          <a:lstStyle/>
          <a:p>
            <a:pPr marL="0" indent="0" algn="just">
              <a:buNone/>
            </a:pPr>
            <a:r>
              <a:rPr lang="ru-RU" sz="3000" b="1" dirty="0">
                <a:solidFill>
                  <a:schemeClr val="tx2">
                    <a:lumMod val="90000"/>
                    <a:lumOff val="10000"/>
                  </a:schemeClr>
                </a:solidFill>
              </a:rPr>
              <a:t>Длительность интеллектуальной работы</a:t>
            </a:r>
          </a:p>
          <a:p>
            <a:pPr marL="0" indent="0" algn="just">
              <a:buNone/>
            </a:pPr>
            <a:endParaRPr lang="ru-RU" sz="100" b="1" dirty="0">
              <a:solidFill>
                <a:schemeClr val="tx2">
                  <a:lumMod val="90000"/>
                  <a:lumOff val="10000"/>
                </a:schemeClr>
              </a:solidFill>
            </a:endParaRPr>
          </a:p>
          <a:p>
            <a:pPr marL="0" indent="0" algn="just">
              <a:buNone/>
            </a:pPr>
            <a:r>
              <a:rPr lang="ru-RU" sz="2600" dirty="0">
                <a:solidFill>
                  <a:schemeClr val="bg2">
                    <a:lumMod val="10000"/>
                  </a:schemeClr>
                </a:solidFill>
              </a:rPr>
              <a:t>Факторы, позволяющие ускорить процесс мышления:</a:t>
            </a:r>
          </a:p>
          <a:p>
            <a:pPr algn="just"/>
            <a:r>
              <a:rPr lang="ru-RU" sz="2400" i="1" dirty="0">
                <a:solidFill>
                  <a:schemeClr val="bg2">
                    <a:lumMod val="10000"/>
                  </a:schemeClr>
                </a:solidFill>
              </a:rPr>
              <a:t>Непосредственное манипулирование </a:t>
            </a:r>
            <a:r>
              <a:rPr lang="ru-RU" sz="2400" i="1" dirty="0"/>
              <a:t>(</a:t>
            </a:r>
            <a:r>
              <a:rPr lang="ru-RU" sz="2400" dirty="0"/>
              <a:t>пользователь не отдает команды системе, а манипулирует объектами)</a:t>
            </a:r>
            <a:r>
              <a:rPr lang="ru-RU" sz="2400" dirty="0">
                <a:solidFill>
                  <a:schemeClr val="bg2">
                    <a:lumMod val="10000"/>
                  </a:schemeClr>
                </a:solidFill>
              </a:rPr>
              <a:t>.</a:t>
            </a:r>
            <a:endParaRPr lang="ru-RU" sz="2400" i="1" dirty="0">
              <a:solidFill>
                <a:schemeClr val="bg2">
                  <a:lumMod val="10000"/>
                </a:schemeClr>
              </a:solidFill>
            </a:endParaRPr>
          </a:p>
          <a:p>
            <a:pPr algn="just"/>
            <a:r>
              <a:rPr lang="ru-RU" sz="2400" i="1" dirty="0">
                <a:solidFill>
                  <a:schemeClr val="bg2">
                    <a:lumMod val="10000"/>
                  </a:schemeClr>
                </a:solidFill>
              </a:rPr>
              <a:t>Применение в интерфейсе эффективных методов при потере фокуса внимания </a:t>
            </a:r>
            <a:r>
              <a:rPr lang="ru-RU" sz="2400" dirty="0"/>
              <a:t>(максимально облегчаем возвращение пользователя к работе, упрощаем интерфейс при проектировании)</a:t>
            </a:r>
            <a:r>
              <a:rPr lang="ru-RU" sz="2400" dirty="0">
                <a:solidFill>
                  <a:schemeClr val="bg2">
                    <a:lumMod val="10000"/>
                  </a:schemeClr>
                </a:solidFill>
              </a:rPr>
              <a:t>.</a:t>
            </a:r>
          </a:p>
          <a:p>
            <a:pPr algn="just"/>
            <a:endParaRPr lang="ru-RU" sz="2400" dirty="0">
              <a:solidFill>
                <a:schemeClr val="bg2">
                  <a:lumMod val="10000"/>
                </a:schemeClr>
              </a:solidFill>
            </a:endParaRPr>
          </a:p>
          <a:p>
            <a:pPr algn="just"/>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1948484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365135" cy="4600419"/>
          </a:xfrm>
        </p:spPr>
        <p:txBody>
          <a:bodyPr>
            <a:normAutofit/>
          </a:bodyPr>
          <a:lstStyle/>
          <a:p>
            <a:pPr marL="0" indent="0" algn="just">
              <a:buNone/>
            </a:pPr>
            <a:r>
              <a:rPr lang="ru-RU" sz="3000" b="1" dirty="0">
                <a:solidFill>
                  <a:schemeClr val="tx2">
                    <a:lumMod val="90000"/>
                    <a:lumOff val="10000"/>
                  </a:schemeClr>
                </a:solidFill>
              </a:rPr>
              <a:t>Длительность физических действий</a:t>
            </a:r>
          </a:p>
          <a:p>
            <a:pPr marL="0" indent="0" algn="just">
              <a:buNone/>
            </a:pPr>
            <a:endParaRPr lang="ru-RU" sz="100" b="1" dirty="0">
              <a:solidFill>
                <a:schemeClr val="tx2">
                  <a:lumMod val="90000"/>
                  <a:lumOff val="10000"/>
                </a:schemeClr>
              </a:solidFill>
            </a:endParaRPr>
          </a:p>
          <a:p>
            <a:pPr algn="just"/>
            <a:r>
              <a:rPr lang="ru-RU" sz="2400" dirty="0">
                <a:solidFill>
                  <a:schemeClr val="bg2">
                    <a:lumMod val="10000"/>
                  </a:schemeClr>
                </a:solidFill>
              </a:rPr>
              <a:t>Любое физическое действие, совершаемое с помощью мускулатуры, может быть или точным,  или быстрым</a:t>
            </a:r>
            <a:r>
              <a:rPr lang="ru-RU" sz="2400" dirty="0"/>
              <a:t> (вместе точность и быстрота встречаются исключительно редко)</a:t>
            </a:r>
            <a:r>
              <a:rPr lang="ru-RU" sz="2400" dirty="0">
                <a:solidFill>
                  <a:schemeClr val="bg2">
                    <a:lumMod val="10000"/>
                  </a:schemeClr>
                </a:solidFill>
              </a:rPr>
              <a:t>.</a:t>
            </a:r>
          </a:p>
          <a:p>
            <a:pPr algn="just"/>
            <a:r>
              <a:rPr lang="ru-RU" sz="2400" dirty="0">
                <a:solidFill>
                  <a:schemeClr val="bg2">
                    <a:lumMod val="10000"/>
                  </a:schemeClr>
                </a:solidFill>
              </a:rPr>
              <a:t>Пользователь, как правило, управляет компьютером двумя способами: </a:t>
            </a:r>
            <a:r>
              <a:rPr lang="ru-RU" sz="2400" dirty="0">
                <a:solidFill>
                  <a:schemeClr val="tx2">
                    <a:lumMod val="90000"/>
                    <a:lumOff val="10000"/>
                  </a:schemeClr>
                </a:solidFill>
              </a:rPr>
              <a:t>мышью</a:t>
            </a:r>
            <a:r>
              <a:rPr lang="ru-RU" sz="2400" dirty="0">
                <a:solidFill>
                  <a:schemeClr val="bg2">
                    <a:lumMod val="10000"/>
                  </a:schemeClr>
                </a:solidFill>
              </a:rPr>
              <a:t> и </a:t>
            </a:r>
            <a:r>
              <a:rPr lang="ru-RU" sz="2400" dirty="0">
                <a:solidFill>
                  <a:schemeClr val="tx2">
                    <a:lumMod val="90000"/>
                    <a:lumOff val="10000"/>
                  </a:schemeClr>
                </a:solidFill>
              </a:rPr>
              <a:t>клавиатурой</a:t>
            </a:r>
            <a:r>
              <a:rPr lang="ru-RU" sz="2400" dirty="0">
                <a:solidFill>
                  <a:schemeClr val="bg2">
                    <a:lumMod val="10000"/>
                  </a:schemeClr>
                </a:solidFill>
              </a:rPr>
              <a:t>.</a:t>
            </a:r>
          </a:p>
          <a:p>
            <a:pPr marL="0" indent="0" algn="just">
              <a:buNone/>
            </a:pPr>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4064812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3" y="2026522"/>
            <a:ext cx="6432232" cy="4600419"/>
          </a:xfrm>
        </p:spPr>
        <p:txBody>
          <a:bodyPr>
            <a:normAutofit/>
          </a:bodyPr>
          <a:lstStyle/>
          <a:p>
            <a:pPr marL="0" indent="0" algn="just">
              <a:buNone/>
            </a:pPr>
            <a:r>
              <a:rPr lang="ru-RU" sz="3000" b="1" dirty="0">
                <a:solidFill>
                  <a:schemeClr val="tx2">
                    <a:lumMod val="90000"/>
                    <a:lumOff val="10000"/>
                  </a:schemeClr>
                </a:solidFill>
              </a:rPr>
              <a:t>Длительность физических действий</a:t>
            </a:r>
          </a:p>
          <a:p>
            <a:pPr marL="0" indent="0" algn="just">
              <a:buNone/>
            </a:pPr>
            <a:endParaRPr lang="ru-RU" sz="100" b="1" dirty="0">
              <a:solidFill>
                <a:schemeClr val="tx2">
                  <a:lumMod val="90000"/>
                  <a:lumOff val="10000"/>
                </a:schemeClr>
              </a:solidFill>
            </a:endParaRPr>
          </a:p>
          <a:p>
            <a:pPr algn="just"/>
            <a:r>
              <a:rPr lang="ru-RU" sz="2400" dirty="0">
                <a:solidFill>
                  <a:schemeClr val="tx2">
                    <a:lumMod val="90000"/>
                    <a:lumOff val="10000"/>
                  </a:schemeClr>
                </a:solidFill>
              </a:rPr>
              <a:t>Клавиатура</a:t>
            </a:r>
            <a:r>
              <a:rPr lang="ru-RU" sz="2400" dirty="0">
                <a:solidFill>
                  <a:schemeClr val="bg2">
                    <a:lumMod val="10000"/>
                  </a:schemeClr>
                </a:solidFill>
              </a:rPr>
              <a:t> не требует особой точности движений – неважно, быстро нажали клавишу или медленно, равно как сильно или слабо.</a:t>
            </a:r>
          </a:p>
          <a:p>
            <a:pPr algn="just"/>
            <a:r>
              <a:rPr lang="ru-RU" sz="2400" dirty="0">
                <a:solidFill>
                  <a:schemeClr val="tx2">
                    <a:lumMod val="90000"/>
                    <a:lumOff val="10000"/>
                  </a:schemeClr>
                </a:solidFill>
              </a:rPr>
              <a:t>Мышь</a:t>
            </a:r>
            <a:r>
              <a:rPr lang="ru-RU" sz="2400" dirty="0">
                <a:solidFill>
                  <a:schemeClr val="bg2">
                    <a:lumMod val="10000"/>
                  </a:schemeClr>
                </a:solidFill>
              </a:rPr>
              <a:t>, напротив, инерционна. Именно поэтому оптимизация использования мыши в системе может существенно повысить общую скорость работы. </a:t>
            </a:r>
          </a:p>
          <a:p>
            <a:pPr marL="0" indent="0" algn="just">
              <a:buNone/>
            </a:pPr>
            <a:endParaRPr lang="ru-RU" sz="100" b="1" dirty="0">
              <a:solidFill>
                <a:schemeClr val="tx2">
                  <a:lumMod val="90000"/>
                  <a:lumOff val="10000"/>
                </a:schemeClr>
              </a:solidFill>
            </a:endParaRPr>
          </a:p>
        </p:txBody>
      </p:sp>
      <p:pic>
        <p:nvPicPr>
          <p:cNvPr id="6146" name="Picture 2" descr="Picture background">
            <a:extLst>
              <a:ext uri="{FF2B5EF4-FFF2-40B4-BE49-F238E27FC236}">
                <a16:creationId xmlns:a16="http://schemas.microsoft.com/office/drawing/2014/main" id="{8B6A89B8-3845-FFBF-86BE-50C18B9A82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6471" y="2536723"/>
            <a:ext cx="3293806" cy="3293806"/>
          </a:xfrm>
          <a:prstGeom prst="rect">
            <a:avLst/>
          </a:prstGeom>
          <a:ln w="3175" cap="sq" cmpd="thickThin">
            <a:solidFill>
              <a:srgbClr val="000000"/>
            </a:solidFill>
            <a:prstDash val="solid"/>
            <a:miter lim="800000"/>
          </a:ln>
          <a:effectLst>
            <a:glow rad="63500">
              <a:schemeClr val="accent6">
                <a:satMod val="175000"/>
                <a:alpha val="40000"/>
              </a:schemeClr>
            </a:glow>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451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178321" cy="4600419"/>
          </a:xfrm>
        </p:spPr>
        <p:txBody>
          <a:bodyPr>
            <a:normAutofit/>
          </a:bodyPr>
          <a:lstStyle/>
          <a:p>
            <a:pPr marL="0" indent="0" algn="just">
              <a:buNone/>
            </a:pPr>
            <a:r>
              <a:rPr lang="ru-RU" sz="3000" b="1" dirty="0">
                <a:solidFill>
                  <a:schemeClr val="tx2">
                    <a:lumMod val="90000"/>
                    <a:lumOff val="10000"/>
                  </a:schemeClr>
                </a:solidFill>
              </a:rPr>
              <a:t>Длительность реакции системы</a:t>
            </a:r>
          </a:p>
          <a:p>
            <a:pPr marL="0" indent="0" algn="just">
              <a:buNone/>
            </a:pPr>
            <a:endParaRPr lang="ru-RU" sz="100" b="1" dirty="0">
              <a:solidFill>
                <a:schemeClr val="tx2">
                  <a:lumMod val="90000"/>
                  <a:lumOff val="10000"/>
                </a:schemeClr>
              </a:solidFill>
            </a:endParaRPr>
          </a:p>
          <a:p>
            <a:pPr algn="just"/>
            <a:r>
              <a:rPr lang="ru-RU" sz="2400" dirty="0">
                <a:solidFill>
                  <a:schemeClr val="bg2">
                    <a:lumMod val="10000"/>
                  </a:schemeClr>
                </a:solidFill>
              </a:rPr>
              <a:t>Пользователи надолго прерывают работу, когда система делает что-либо длительное.</a:t>
            </a:r>
          </a:p>
          <a:p>
            <a:pPr algn="just"/>
            <a:r>
              <a:rPr lang="ru-RU" sz="2400" dirty="0">
                <a:solidFill>
                  <a:schemeClr val="bg2">
                    <a:lumMod val="10000"/>
                  </a:schemeClr>
                </a:solidFill>
              </a:rPr>
              <a:t>Если процесс предположительно будет длительным, система должна убедиться, что она получила всю информацию от пользователя до начала этого процесса. </a:t>
            </a:r>
          </a:p>
          <a:p>
            <a:pPr algn="just"/>
            <a:r>
              <a:rPr lang="ru-RU" sz="2400" dirty="0">
                <a:solidFill>
                  <a:schemeClr val="bg2">
                    <a:lumMod val="10000"/>
                  </a:schemeClr>
                </a:solidFill>
              </a:rPr>
              <a:t>Есть другое решение данной проблемы: система может считать, что если пользователь не ответил на вопрос, скажем, в течение пяти минут, то его ответ положительный.</a:t>
            </a: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1670061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6501057" cy="4600419"/>
          </a:xfrm>
        </p:spPr>
        <p:txBody>
          <a:bodyPr>
            <a:normAutofit/>
          </a:bodyPr>
          <a:lstStyle/>
          <a:p>
            <a:pPr marL="0" indent="0" algn="just">
              <a:buNone/>
            </a:pPr>
            <a:r>
              <a:rPr lang="ru-RU" sz="3000" b="1" dirty="0">
                <a:solidFill>
                  <a:schemeClr val="tx2">
                    <a:lumMod val="90000"/>
                    <a:lumOff val="10000"/>
                  </a:schemeClr>
                </a:solidFill>
              </a:rPr>
              <a:t>Количество человеческих ошибок</a:t>
            </a:r>
          </a:p>
          <a:p>
            <a:pPr marL="0" indent="0" algn="just">
              <a:buNone/>
            </a:pPr>
            <a:endParaRPr lang="ru-RU" sz="100" b="1" dirty="0">
              <a:solidFill>
                <a:schemeClr val="tx2">
                  <a:lumMod val="90000"/>
                  <a:lumOff val="10000"/>
                </a:schemeClr>
              </a:solidFill>
            </a:endParaRPr>
          </a:p>
          <a:p>
            <a:pPr algn="just"/>
            <a:r>
              <a:rPr lang="ru-RU" sz="2400" dirty="0">
                <a:solidFill>
                  <a:schemeClr val="bg2">
                    <a:lumMod val="10000"/>
                  </a:schemeClr>
                </a:solidFill>
              </a:rPr>
              <a:t>Человек при работе с компьютером постоянно совершает ошибки. </a:t>
            </a:r>
          </a:p>
          <a:p>
            <a:pPr algn="just"/>
            <a:r>
              <a:rPr lang="ru-RU" sz="2400" dirty="0">
                <a:solidFill>
                  <a:schemeClr val="bg2">
                    <a:lumMod val="10000"/>
                  </a:schemeClr>
                </a:solidFill>
              </a:rPr>
              <a:t>Часто</a:t>
            </a:r>
            <a:r>
              <a:rPr lang="ru-RU" sz="2000" dirty="0"/>
              <a:t> </a:t>
            </a:r>
            <a:r>
              <a:rPr lang="ru-RU" sz="2400" dirty="0">
                <a:solidFill>
                  <a:schemeClr val="bg2">
                    <a:lumMod val="10000"/>
                  </a:schemeClr>
                </a:solidFill>
              </a:rPr>
              <a:t>минимальная ошибка приводит к абсолютно катастрофическим последствиям.</a:t>
            </a:r>
          </a:p>
          <a:p>
            <a:pPr marL="0" indent="0" algn="just">
              <a:buNone/>
            </a:pPr>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pic>
        <p:nvPicPr>
          <p:cNvPr id="7170" name="Picture 2" descr="Picture background">
            <a:extLst>
              <a:ext uri="{FF2B5EF4-FFF2-40B4-BE49-F238E27FC236}">
                <a16:creationId xmlns:a16="http://schemas.microsoft.com/office/drawing/2014/main" id="{014B5834-B7B5-DB48-D5F2-57632FA577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690"/>
          <a:stretch/>
        </p:blipFill>
        <p:spPr bwMode="auto">
          <a:xfrm>
            <a:off x="8226025" y="2334092"/>
            <a:ext cx="3307214" cy="2189815"/>
          </a:xfrm>
          <a:prstGeom prst="rect">
            <a:avLst/>
          </a:prstGeom>
          <a:ln w="3175" cap="sq" cmpd="thickThin">
            <a:solidFill>
              <a:srgbClr val="000000"/>
            </a:solidFill>
            <a:prstDash val="solid"/>
            <a:miter lim="800000"/>
          </a:ln>
          <a:effectLst>
            <a:glow rad="63500">
              <a:schemeClr val="accent6">
                <a:satMod val="175000"/>
                <a:alpha val="40000"/>
              </a:schemeClr>
            </a:glow>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1132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178322" cy="4600419"/>
          </a:xfrm>
        </p:spPr>
        <p:txBody>
          <a:bodyPr>
            <a:normAutofit/>
          </a:bodyPr>
          <a:lstStyle/>
          <a:p>
            <a:pPr marL="0" indent="0" algn="just">
              <a:buNone/>
            </a:pPr>
            <a:r>
              <a:rPr lang="ru-RU" sz="3000" b="1" dirty="0">
                <a:solidFill>
                  <a:schemeClr val="tx2">
                    <a:lumMod val="90000"/>
                    <a:lumOff val="10000"/>
                  </a:schemeClr>
                </a:solidFill>
              </a:rPr>
              <a:t>Количество человеческих ошибок</a:t>
            </a:r>
          </a:p>
          <a:p>
            <a:pPr marL="0" indent="0" algn="just">
              <a:buNone/>
            </a:pPr>
            <a:endParaRPr lang="ru-RU" sz="100" b="1" dirty="0">
              <a:solidFill>
                <a:schemeClr val="tx2">
                  <a:lumMod val="90000"/>
                  <a:lumOff val="10000"/>
                </a:schemeClr>
              </a:solidFill>
            </a:endParaRPr>
          </a:p>
          <a:p>
            <a:pPr marL="0" indent="0" algn="just">
              <a:buNone/>
            </a:pPr>
            <a:r>
              <a:rPr lang="ru-RU" sz="2800" dirty="0">
                <a:solidFill>
                  <a:schemeClr val="bg2">
                    <a:lumMod val="10000"/>
                  </a:schemeClr>
                </a:solidFill>
              </a:rPr>
              <a:t>Типы ошибок:</a:t>
            </a:r>
          </a:p>
          <a:p>
            <a:pPr algn="just"/>
            <a:r>
              <a:rPr lang="ru-RU" sz="2400" dirty="0">
                <a:solidFill>
                  <a:schemeClr val="bg2">
                    <a:lumMod val="10000"/>
                  </a:schemeClr>
                </a:solidFill>
              </a:rPr>
              <a:t>Ошибки, вызванные недостаточным знанием предметной области</a:t>
            </a:r>
          </a:p>
          <a:p>
            <a:pPr algn="just"/>
            <a:r>
              <a:rPr lang="ru-RU" sz="2400" dirty="0">
                <a:solidFill>
                  <a:schemeClr val="bg2">
                    <a:lumMod val="10000"/>
                  </a:schemeClr>
                </a:solidFill>
              </a:rPr>
              <a:t>Опечатки</a:t>
            </a:r>
          </a:p>
          <a:p>
            <a:pPr algn="just"/>
            <a:r>
              <a:rPr lang="ru-RU" sz="2400" dirty="0">
                <a:solidFill>
                  <a:schemeClr val="bg2">
                    <a:lumMod val="10000"/>
                  </a:schemeClr>
                </a:solidFill>
              </a:rPr>
              <a:t>Ошибки, вызванные несчитыванием показаний системы</a:t>
            </a:r>
          </a:p>
          <a:p>
            <a:pPr algn="just"/>
            <a:r>
              <a:rPr lang="ru-RU" sz="2400" dirty="0">
                <a:solidFill>
                  <a:schemeClr val="bg2">
                    <a:lumMod val="10000"/>
                  </a:schemeClr>
                </a:solidFill>
              </a:rPr>
              <a:t>Моторные ошибки</a:t>
            </a:r>
          </a:p>
          <a:p>
            <a:pPr marL="0" indent="0" algn="just">
              <a:buNone/>
            </a:pPr>
            <a:endParaRPr lang="ru-RU" sz="2400" dirty="0">
              <a:solidFill>
                <a:schemeClr val="bg2">
                  <a:lumMod val="10000"/>
                </a:schemeClr>
              </a:solidFill>
            </a:endParaRPr>
          </a:p>
          <a:p>
            <a:pPr algn="just"/>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2210267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178322" cy="4600419"/>
          </a:xfrm>
        </p:spPr>
        <p:txBody>
          <a:bodyPr>
            <a:normAutofit/>
          </a:bodyPr>
          <a:lstStyle/>
          <a:p>
            <a:pPr marL="0" indent="0" algn="just">
              <a:buNone/>
            </a:pPr>
            <a:r>
              <a:rPr lang="ru-RU" sz="3000" b="1" dirty="0">
                <a:solidFill>
                  <a:schemeClr val="tx2">
                    <a:lumMod val="90000"/>
                    <a:lumOff val="10000"/>
                  </a:schemeClr>
                </a:solidFill>
              </a:rPr>
              <a:t>Количество человеческих ошибок</a:t>
            </a:r>
          </a:p>
          <a:p>
            <a:pPr marL="0" indent="0" algn="just">
              <a:buNone/>
            </a:pPr>
            <a:endParaRPr lang="ru-RU" sz="100" b="1" dirty="0">
              <a:solidFill>
                <a:schemeClr val="tx2">
                  <a:lumMod val="90000"/>
                  <a:lumOff val="10000"/>
                </a:schemeClr>
              </a:solidFill>
            </a:endParaRPr>
          </a:p>
          <a:p>
            <a:pPr marL="0" indent="0" algn="just">
              <a:buNone/>
            </a:pPr>
            <a:r>
              <a:rPr lang="ru-RU" sz="2600" dirty="0">
                <a:solidFill>
                  <a:schemeClr val="tx2">
                    <a:lumMod val="90000"/>
                    <a:lumOff val="10000"/>
                  </a:schemeClr>
                </a:solidFill>
              </a:rPr>
              <a:t>Ошибки, вызванные недостаточным знанием предметной области</a:t>
            </a:r>
          </a:p>
          <a:p>
            <a:pPr marL="0" indent="0" algn="just">
              <a:buNone/>
            </a:pPr>
            <a:endParaRPr lang="ru-RU" sz="100" dirty="0">
              <a:solidFill>
                <a:schemeClr val="tx2">
                  <a:lumMod val="90000"/>
                  <a:lumOff val="10000"/>
                </a:schemeClr>
              </a:solidFill>
            </a:endParaRPr>
          </a:p>
          <a:p>
            <a:pPr algn="just"/>
            <a:r>
              <a:rPr lang="ru-RU" sz="2400" dirty="0">
                <a:solidFill>
                  <a:schemeClr val="bg2">
                    <a:lumMod val="10000"/>
                  </a:schemeClr>
                </a:solidFill>
              </a:rPr>
              <a:t>Исправляются сравнительно легко, благодаря обучению</a:t>
            </a:r>
          </a:p>
          <a:p>
            <a:pPr algn="just"/>
            <a:r>
              <a:rPr lang="ru-RU" sz="2400" dirty="0">
                <a:solidFill>
                  <a:schemeClr val="bg2">
                    <a:lumMod val="10000"/>
                  </a:schemeClr>
                </a:solidFill>
              </a:rPr>
              <a:t>Практическая роль данных ошибок достаточно велика, т.к. пользователей ПО редко обучают.</a:t>
            </a:r>
          </a:p>
          <a:p>
            <a:pPr algn="just"/>
            <a:r>
              <a:rPr lang="ru-RU" sz="2400" dirty="0">
                <a:solidFill>
                  <a:schemeClr val="bg2">
                    <a:lumMod val="10000"/>
                  </a:schemeClr>
                </a:solidFill>
              </a:rPr>
              <a:t>Сайты без справочной системы усугубляют положение.</a:t>
            </a:r>
          </a:p>
          <a:p>
            <a:pPr algn="just"/>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2560152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6032503" cy="4600419"/>
          </a:xfrm>
        </p:spPr>
        <p:txBody>
          <a:bodyPr>
            <a:normAutofit/>
          </a:bodyPr>
          <a:lstStyle/>
          <a:p>
            <a:pPr marL="0" indent="0" algn="just">
              <a:buNone/>
            </a:pPr>
            <a:r>
              <a:rPr lang="ru-RU" sz="3000" b="1" dirty="0">
                <a:solidFill>
                  <a:schemeClr val="tx2">
                    <a:lumMod val="90000"/>
                    <a:lumOff val="10000"/>
                  </a:schemeClr>
                </a:solidFill>
              </a:rPr>
              <a:t>Количество человеческих ошибок</a:t>
            </a:r>
          </a:p>
          <a:p>
            <a:pPr marL="0" indent="0" algn="just">
              <a:buNone/>
            </a:pPr>
            <a:endParaRPr lang="ru-RU" sz="100" b="1" dirty="0">
              <a:solidFill>
                <a:schemeClr val="tx2">
                  <a:lumMod val="90000"/>
                  <a:lumOff val="10000"/>
                </a:schemeClr>
              </a:solidFill>
            </a:endParaRPr>
          </a:p>
          <a:p>
            <a:pPr marL="0" indent="0" algn="just">
              <a:buNone/>
            </a:pPr>
            <a:r>
              <a:rPr lang="ru-RU" sz="2600" dirty="0">
                <a:solidFill>
                  <a:schemeClr val="tx2">
                    <a:lumMod val="90000"/>
                    <a:lumOff val="10000"/>
                  </a:schemeClr>
                </a:solidFill>
              </a:rPr>
              <a:t>Опечатки</a:t>
            </a:r>
          </a:p>
          <a:p>
            <a:pPr marL="0" indent="0" algn="just">
              <a:buNone/>
            </a:pPr>
            <a:endParaRPr lang="ru-RU" sz="100" dirty="0">
              <a:solidFill>
                <a:schemeClr val="tx2">
                  <a:lumMod val="90000"/>
                  <a:lumOff val="10000"/>
                </a:schemeClr>
              </a:solidFill>
            </a:endParaRPr>
          </a:p>
          <a:p>
            <a:pPr algn="just"/>
            <a:r>
              <a:rPr lang="ru-RU" sz="2400" dirty="0">
                <a:solidFill>
                  <a:schemeClr val="bg2">
                    <a:lumMod val="10000"/>
                  </a:schemeClr>
                </a:solidFill>
              </a:rPr>
              <a:t>Не все внимание уделяется выполнению текущего действия.</a:t>
            </a:r>
          </a:p>
          <a:p>
            <a:pPr algn="just"/>
            <a:r>
              <a:rPr lang="ru-RU" sz="2400" dirty="0">
                <a:solidFill>
                  <a:schemeClr val="bg2">
                    <a:lumMod val="10000"/>
                  </a:schemeClr>
                </a:solidFill>
              </a:rPr>
              <a:t>В мысленный план выполняемого действия вклинивается фрагмент плана из другого действия.</a:t>
            </a:r>
          </a:p>
          <a:p>
            <a:pPr marL="0" indent="0" algn="just">
              <a:buNone/>
            </a:pPr>
            <a:endParaRPr lang="ru-RU" sz="100" b="1" dirty="0">
              <a:solidFill>
                <a:schemeClr val="tx2">
                  <a:lumMod val="90000"/>
                  <a:lumOff val="10000"/>
                </a:schemeClr>
              </a:solidFill>
            </a:endParaRPr>
          </a:p>
        </p:txBody>
      </p:sp>
      <p:pic>
        <p:nvPicPr>
          <p:cNvPr id="8198" name="Picture 6" descr="Picture background">
            <a:extLst>
              <a:ext uri="{FF2B5EF4-FFF2-40B4-BE49-F238E27FC236}">
                <a16:creationId xmlns:a16="http://schemas.microsoft.com/office/drawing/2014/main" id="{649D819B-07D2-CB43-C2B7-8D5A0E42CB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36" t="44444"/>
          <a:stretch/>
        </p:blipFill>
        <p:spPr bwMode="auto">
          <a:xfrm>
            <a:off x="7669161" y="2950645"/>
            <a:ext cx="3760839" cy="2274405"/>
          </a:xfrm>
          <a:prstGeom prst="rect">
            <a:avLst/>
          </a:prstGeom>
          <a:ln w="3175" cap="sq" cmpd="thickThin">
            <a:solidFill>
              <a:srgbClr val="000000"/>
            </a:solidFill>
            <a:prstDash val="solid"/>
            <a:miter lim="800000"/>
          </a:ln>
          <a:effectLst>
            <a:glow rad="63500">
              <a:schemeClr val="accent6">
                <a:satMod val="175000"/>
                <a:alpha val="40000"/>
              </a:schemeClr>
            </a:glow>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4504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178322" cy="4600419"/>
          </a:xfrm>
        </p:spPr>
        <p:txBody>
          <a:bodyPr>
            <a:normAutofit/>
          </a:bodyPr>
          <a:lstStyle/>
          <a:p>
            <a:pPr marL="0" indent="0" algn="just">
              <a:buNone/>
            </a:pPr>
            <a:r>
              <a:rPr lang="ru-RU" sz="3000" b="1" dirty="0">
                <a:solidFill>
                  <a:schemeClr val="tx2">
                    <a:lumMod val="90000"/>
                    <a:lumOff val="10000"/>
                  </a:schemeClr>
                </a:solidFill>
              </a:rPr>
              <a:t>Количество человеческих ошибок</a:t>
            </a:r>
          </a:p>
          <a:p>
            <a:pPr marL="0" indent="0" algn="just">
              <a:buNone/>
            </a:pPr>
            <a:endParaRPr lang="ru-RU" sz="100" b="1" dirty="0">
              <a:solidFill>
                <a:schemeClr val="tx2">
                  <a:lumMod val="90000"/>
                  <a:lumOff val="10000"/>
                </a:schemeClr>
              </a:solidFill>
            </a:endParaRPr>
          </a:p>
          <a:p>
            <a:pPr marL="0" indent="0" algn="just">
              <a:buNone/>
            </a:pPr>
            <a:r>
              <a:rPr lang="ru-RU" sz="2600" dirty="0">
                <a:solidFill>
                  <a:schemeClr val="tx2">
                    <a:lumMod val="90000"/>
                    <a:lumOff val="10000"/>
                  </a:schemeClr>
                </a:solidFill>
              </a:rPr>
              <a:t>Ошибки, вызванные несчитыванием показаний системы</a:t>
            </a:r>
          </a:p>
          <a:p>
            <a:pPr marL="0" indent="0" algn="just">
              <a:buNone/>
            </a:pPr>
            <a:endParaRPr lang="ru-RU" sz="100" dirty="0">
              <a:solidFill>
                <a:schemeClr val="tx2">
                  <a:lumMod val="90000"/>
                  <a:lumOff val="10000"/>
                </a:schemeClr>
              </a:solidFill>
            </a:endParaRPr>
          </a:p>
          <a:p>
            <a:pPr algn="just"/>
            <a:r>
              <a:rPr lang="ru-RU" sz="2400" dirty="0">
                <a:solidFill>
                  <a:schemeClr val="bg2">
                    <a:lumMod val="10000"/>
                  </a:schemeClr>
                </a:solidFill>
              </a:rPr>
              <a:t>Складывается мнение о текущем состоянии, и пользователь считает излишним его проверять.</a:t>
            </a:r>
          </a:p>
          <a:p>
            <a:pPr algn="just"/>
            <a:r>
              <a:rPr lang="ru-RU" sz="2400" dirty="0">
                <a:solidFill>
                  <a:schemeClr val="bg2">
                    <a:lumMod val="10000"/>
                  </a:schemeClr>
                </a:solidFill>
              </a:rPr>
              <a:t>Забывают считывать показания.</a:t>
            </a:r>
          </a:p>
          <a:p>
            <a:pPr algn="just"/>
            <a:r>
              <a:rPr lang="ru-RU" sz="2400" dirty="0">
                <a:solidFill>
                  <a:schemeClr val="bg2">
                    <a:lumMod val="10000"/>
                  </a:schemeClr>
                </a:solidFill>
              </a:rPr>
              <a:t>Не знают что это необходимо.</a:t>
            </a:r>
          </a:p>
          <a:p>
            <a:pPr algn="just"/>
            <a:r>
              <a:rPr lang="ru-RU" sz="2400" dirty="0">
                <a:solidFill>
                  <a:schemeClr val="bg2">
                    <a:lumMod val="10000"/>
                  </a:schemeClr>
                </a:solidFill>
              </a:rPr>
              <a:t>Не знают как это делать.</a:t>
            </a: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369342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178322" cy="4600419"/>
          </a:xfrm>
        </p:spPr>
        <p:txBody>
          <a:bodyPr>
            <a:normAutofit/>
          </a:bodyPr>
          <a:lstStyle/>
          <a:p>
            <a:pPr marL="0" indent="0" algn="just">
              <a:buNone/>
            </a:pPr>
            <a:r>
              <a:rPr lang="ru-RU" sz="3000" b="1" dirty="0">
                <a:solidFill>
                  <a:schemeClr val="tx2">
                    <a:lumMod val="90000"/>
                    <a:lumOff val="10000"/>
                  </a:schemeClr>
                </a:solidFill>
              </a:rPr>
              <a:t>Количество человеческих ошибок</a:t>
            </a:r>
          </a:p>
          <a:p>
            <a:pPr marL="0" indent="0" algn="just">
              <a:buNone/>
            </a:pPr>
            <a:endParaRPr lang="ru-RU" sz="100" b="1" dirty="0">
              <a:solidFill>
                <a:schemeClr val="tx2">
                  <a:lumMod val="90000"/>
                  <a:lumOff val="10000"/>
                </a:schemeClr>
              </a:solidFill>
            </a:endParaRPr>
          </a:p>
          <a:p>
            <a:pPr marL="0" indent="0" algn="just">
              <a:buNone/>
            </a:pPr>
            <a:r>
              <a:rPr lang="ru-RU" sz="2600" dirty="0">
                <a:solidFill>
                  <a:schemeClr val="tx2">
                    <a:lumMod val="90000"/>
                    <a:lumOff val="10000"/>
                  </a:schemeClr>
                </a:solidFill>
              </a:rPr>
              <a:t>Моторные ошибки</a:t>
            </a:r>
          </a:p>
          <a:p>
            <a:pPr marL="0" indent="0" algn="just">
              <a:buNone/>
            </a:pPr>
            <a:endParaRPr lang="ru-RU" sz="100" dirty="0">
              <a:solidFill>
                <a:schemeClr val="tx2">
                  <a:lumMod val="90000"/>
                  <a:lumOff val="10000"/>
                </a:schemeClr>
              </a:solidFill>
            </a:endParaRPr>
          </a:p>
          <a:p>
            <a:pPr algn="just"/>
            <a:r>
              <a:rPr lang="ru-RU" sz="2400" dirty="0">
                <a:solidFill>
                  <a:schemeClr val="bg2">
                    <a:lumMod val="10000"/>
                  </a:schemeClr>
                </a:solidFill>
              </a:rPr>
              <a:t>Трудно выполнить физические действия </a:t>
            </a:r>
            <a:r>
              <a:rPr lang="ru-RU" sz="2400" dirty="0"/>
              <a:t>(пользователь знает что и как нужно делать)</a:t>
            </a:r>
            <a:r>
              <a:rPr lang="ru-RU" sz="2400" dirty="0">
                <a:solidFill>
                  <a:schemeClr val="bg2">
                    <a:lumMod val="10000"/>
                  </a:schemeClr>
                </a:solidFill>
              </a:rPr>
              <a:t>. </a:t>
            </a:r>
          </a:p>
          <a:p>
            <a:pPr algn="just"/>
            <a:r>
              <a:rPr lang="ru-RU" sz="2400" dirty="0">
                <a:solidFill>
                  <a:schemeClr val="bg2">
                    <a:lumMod val="10000"/>
                  </a:schemeClr>
                </a:solidFill>
              </a:rPr>
              <a:t>Необходимо снизить требования к точности движений пользователя.</a:t>
            </a:r>
          </a:p>
          <a:p>
            <a:pPr marL="0" indent="0" algn="just">
              <a:buNone/>
            </a:pPr>
            <a:endParaRPr lang="ru-RU" sz="2400" dirty="0">
              <a:solidFill>
                <a:schemeClr val="bg2">
                  <a:lumMod val="10000"/>
                </a:schemeClr>
              </a:solidFill>
            </a:endParaRPr>
          </a:p>
          <a:p>
            <a:pPr algn="just"/>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3066182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178322" cy="4600419"/>
          </a:xfrm>
        </p:spPr>
        <p:txBody>
          <a:bodyPr>
            <a:normAutofit/>
          </a:bodyPr>
          <a:lstStyle/>
          <a:p>
            <a:pPr marL="0" indent="0" algn="just">
              <a:buNone/>
            </a:pPr>
            <a:r>
              <a:rPr lang="ru-RU" sz="3000" b="1" dirty="0">
                <a:solidFill>
                  <a:schemeClr val="tx2">
                    <a:lumMod val="90000"/>
                    <a:lumOff val="10000"/>
                  </a:schemeClr>
                </a:solidFill>
              </a:rPr>
              <a:t>Количество человеческих ошибок</a:t>
            </a:r>
          </a:p>
          <a:p>
            <a:pPr marL="0" indent="0" algn="just">
              <a:buNone/>
            </a:pPr>
            <a:endParaRPr lang="ru-RU" sz="100" b="1" dirty="0">
              <a:solidFill>
                <a:schemeClr val="tx2">
                  <a:lumMod val="90000"/>
                  <a:lumOff val="10000"/>
                </a:schemeClr>
              </a:solidFill>
            </a:endParaRPr>
          </a:p>
          <a:p>
            <a:pPr marL="0" indent="0" algn="just">
              <a:buNone/>
            </a:pPr>
            <a:r>
              <a:rPr lang="ru-RU" sz="2600" dirty="0">
                <a:solidFill>
                  <a:schemeClr val="tx2">
                    <a:lumMod val="90000"/>
                    <a:lumOff val="10000"/>
                  </a:schemeClr>
                </a:solidFill>
              </a:rPr>
              <a:t>Моторные ошибки</a:t>
            </a:r>
          </a:p>
          <a:p>
            <a:pPr marL="0" indent="0" algn="just">
              <a:buNone/>
            </a:pPr>
            <a:endParaRPr lang="ru-RU" sz="100" dirty="0">
              <a:solidFill>
                <a:schemeClr val="tx2">
                  <a:lumMod val="90000"/>
                  <a:lumOff val="10000"/>
                </a:schemeClr>
              </a:solidFill>
            </a:endParaRPr>
          </a:p>
          <a:p>
            <a:pPr algn="just"/>
            <a:r>
              <a:rPr lang="ru-RU" sz="2400" dirty="0">
                <a:solidFill>
                  <a:schemeClr val="bg2">
                    <a:lumMod val="10000"/>
                  </a:schemeClr>
                </a:solidFill>
              </a:rPr>
              <a:t>Трудно выполнить физические действия </a:t>
            </a:r>
            <a:r>
              <a:rPr lang="ru-RU" sz="2400" dirty="0"/>
              <a:t>(пользователь знает что и как нужно делать)</a:t>
            </a:r>
            <a:r>
              <a:rPr lang="ru-RU" sz="2400" dirty="0">
                <a:solidFill>
                  <a:schemeClr val="bg2">
                    <a:lumMod val="10000"/>
                  </a:schemeClr>
                </a:solidFill>
              </a:rPr>
              <a:t>. </a:t>
            </a:r>
          </a:p>
          <a:p>
            <a:pPr algn="just"/>
            <a:r>
              <a:rPr lang="ru-RU" sz="2400" dirty="0">
                <a:solidFill>
                  <a:schemeClr val="bg2">
                    <a:lumMod val="10000"/>
                  </a:schemeClr>
                </a:solidFill>
              </a:rPr>
              <a:t>Необходимо снизить требования к точности движений пользователя.</a:t>
            </a:r>
          </a:p>
          <a:p>
            <a:pPr marL="0" indent="0" algn="just">
              <a:buNone/>
            </a:pPr>
            <a:endParaRPr lang="ru-RU" sz="2400" dirty="0">
              <a:solidFill>
                <a:schemeClr val="bg2">
                  <a:lumMod val="10000"/>
                </a:schemeClr>
              </a:solidFill>
            </a:endParaRPr>
          </a:p>
          <a:p>
            <a:pPr algn="just"/>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3145220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178322" cy="4600419"/>
          </a:xfrm>
        </p:spPr>
        <p:txBody>
          <a:bodyPr>
            <a:normAutofit lnSpcReduction="10000"/>
          </a:bodyPr>
          <a:lstStyle/>
          <a:p>
            <a:pPr marL="0" indent="0" algn="just">
              <a:buNone/>
            </a:pPr>
            <a:r>
              <a:rPr lang="ru-RU" sz="3000" b="1" dirty="0">
                <a:solidFill>
                  <a:schemeClr val="tx2">
                    <a:lumMod val="90000"/>
                    <a:lumOff val="10000"/>
                  </a:schemeClr>
                </a:solidFill>
              </a:rPr>
              <a:t>Количество человеческих ошибок</a:t>
            </a:r>
          </a:p>
          <a:p>
            <a:pPr marL="0" indent="0" algn="just">
              <a:buNone/>
            </a:pPr>
            <a:endParaRPr lang="ru-RU" sz="100" b="1" dirty="0">
              <a:solidFill>
                <a:schemeClr val="tx2">
                  <a:lumMod val="90000"/>
                  <a:lumOff val="10000"/>
                </a:schemeClr>
              </a:solidFill>
            </a:endParaRPr>
          </a:p>
          <a:p>
            <a:pPr marL="0" indent="0" algn="just">
              <a:buNone/>
            </a:pPr>
            <a:r>
              <a:rPr lang="ru-RU" sz="2400" i="1" dirty="0">
                <a:solidFill>
                  <a:schemeClr val="bg2">
                    <a:lumMod val="10000"/>
                  </a:schemeClr>
                </a:solidFill>
              </a:rPr>
              <a:t>Для минимизации количества ошибок нужно:</a:t>
            </a:r>
          </a:p>
          <a:p>
            <a:pPr algn="just"/>
            <a:r>
              <a:rPr lang="ru-RU" sz="2400" dirty="0">
                <a:solidFill>
                  <a:schemeClr val="bg2">
                    <a:lumMod val="10000"/>
                  </a:schemeClr>
                </a:solidFill>
              </a:rPr>
              <a:t>Плавно обучать пользователей в процессе работы</a:t>
            </a:r>
          </a:p>
          <a:p>
            <a:pPr algn="just"/>
            <a:r>
              <a:rPr lang="ru-RU" sz="2400" dirty="0">
                <a:solidFill>
                  <a:schemeClr val="bg2">
                    <a:lumMod val="10000"/>
                  </a:schemeClr>
                </a:solidFill>
              </a:rPr>
              <a:t>Повышать разборчивость и заметность индикаторов состояния</a:t>
            </a:r>
          </a:p>
          <a:p>
            <a:pPr algn="just"/>
            <a:r>
              <a:rPr lang="ru-RU" sz="2400" dirty="0">
                <a:solidFill>
                  <a:schemeClr val="bg2">
                    <a:lumMod val="10000"/>
                  </a:schemeClr>
                </a:solidFill>
              </a:rPr>
              <a:t>Снижать чувствительность системы к ошибкам.</a:t>
            </a:r>
          </a:p>
          <a:p>
            <a:pPr marL="0" indent="0" algn="just">
              <a:buNone/>
            </a:pPr>
            <a:r>
              <a:rPr lang="ru-RU" sz="2400" i="1" dirty="0">
                <a:solidFill>
                  <a:schemeClr val="bg2">
                    <a:lumMod val="10000"/>
                  </a:schemeClr>
                </a:solidFill>
              </a:rPr>
              <a:t>Для этого есть </a:t>
            </a:r>
            <a:r>
              <a:rPr lang="ru-RU" sz="2400" i="1" dirty="0">
                <a:solidFill>
                  <a:schemeClr val="tx2">
                    <a:lumMod val="90000"/>
                    <a:lumOff val="10000"/>
                  </a:schemeClr>
                </a:solidFill>
              </a:rPr>
              <a:t>три основных способа</a:t>
            </a:r>
            <a:r>
              <a:rPr lang="ru-RU" sz="2400" i="1" dirty="0">
                <a:solidFill>
                  <a:schemeClr val="bg2">
                    <a:lumMod val="10000"/>
                  </a:schemeClr>
                </a:solidFill>
              </a:rPr>
              <a:t>:</a:t>
            </a:r>
          </a:p>
          <a:p>
            <a:pPr algn="just"/>
            <a:r>
              <a:rPr lang="ru-RU" sz="2400" dirty="0">
                <a:solidFill>
                  <a:schemeClr val="bg2">
                    <a:lumMod val="10000"/>
                  </a:schemeClr>
                </a:solidFill>
              </a:rPr>
              <a:t>Блокировка потенциально опасных действий пользователя до получения</a:t>
            </a:r>
          </a:p>
          <a:p>
            <a:pPr algn="just"/>
            <a:r>
              <a:rPr lang="ru-RU" sz="2400" dirty="0">
                <a:solidFill>
                  <a:schemeClr val="bg2">
                    <a:lumMod val="10000"/>
                  </a:schemeClr>
                </a:solidFill>
              </a:rPr>
              <a:t>Проверка действий пользователя перед их принятием</a:t>
            </a:r>
          </a:p>
          <a:p>
            <a:pPr algn="just"/>
            <a:r>
              <a:rPr lang="ru-RU" sz="2400" dirty="0">
                <a:solidFill>
                  <a:schemeClr val="bg2">
                    <a:lumMod val="10000"/>
                  </a:schemeClr>
                </a:solidFill>
              </a:rPr>
              <a:t>Самостоятельный выбор команд</a:t>
            </a:r>
          </a:p>
          <a:p>
            <a:pPr marL="0" indent="0" algn="just">
              <a:buNone/>
            </a:pPr>
            <a:endParaRPr lang="ru-RU" sz="2400" dirty="0">
              <a:solidFill>
                <a:schemeClr val="bg2">
                  <a:lumMod val="10000"/>
                </a:schemeClr>
              </a:solidFill>
            </a:endParaRPr>
          </a:p>
          <a:p>
            <a:pPr algn="just"/>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3878372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178322" cy="4600419"/>
          </a:xfrm>
        </p:spPr>
        <p:txBody>
          <a:bodyPr>
            <a:normAutofit/>
          </a:bodyPr>
          <a:lstStyle/>
          <a:p>
            <a:pPr marL="0" indent="0" algn="just">
              <a:buNone/>
            </a:pPr>
            <a:r>
              <a:rPr lang="ru-RU" sz="3000" b="1" dirty="0">
                <a:solidFill>
                  <a:schemeClr val="tx2">
                    <a:lumMod val="90000"/>
                    <a:lumOff val="10000"/>
                  </a:schemeClr>
                </a:solidFill>
              </a:rPr>
              <a:t>Количество человеческих ошибок</a:t>
            </a:r>
          </a:p>
          <a:p>
            <a:pPr marL="0" indent="0" algn="just">
              <a:buNone/>
            </a:pPr>
            <a:endParaRPr lang="ru-RU" sz="100" b="1" dirty="0">
              <a:solidFill>
                <a:schemeClr val="tx2">
                  <a:lumMod val="90000"/>
                  <a:lumOff val="10000"/>
                </a:schemeClr>
              </a:solidFill>
            </a:endParaRPr>
          </a:p>
          <a:p>
            <a:pPr marL="0" indent="0" algn="just">
              <a:buNone/>
            </a:pPr>
            <a:r>
              <a:rPr lang="ru-RU" sz="2400" i="1" dirty="0">
                <a:solidFill>
                  <a:schemeClr val="bg2">
                    <a:lumMod val="10000"/>
                  </a:schemeClr>
                </a:solidFill>
              </a:rPr>
              <a:t>Блокировка потенциально опасных действий до получения</a:t>
            </a:r>
          </a:p>
          <a:p>
            <a:pPr algn="just"/>
            <a:r>
              <a:rPr lang="ru-RU" sz="2400" dirty="0">
                <a:solidFill>
                  <a:schemeClr val="bg2">
                    <a:lumMod val="10000"/>
                  </a:schemeClr>
                </a:solidFill>
              </a:rPr>
              <a:t>Снабжение требованием подтверждения действия до выполнения команды. </a:t>
            </a:r>
          </a:p>
          <a:p>
            <a:pPr algn="just"/>
            <a:r>
              <a:rPr lang="ru-RU" sz="2400" dirty="0">
                <a:solidFill>
                  <a:schemeClr val="bg2">
                    <a:lumMod val="10000"/>
                  </a:schemeClr>
                </a:solidFill>
              </a:rPr>
              <a:t>Скрытие потенциально опасных данных от пользователя.</a:t>
            </a:r>
          </a:p>
          <a:p>
            <a:pPr marL="0" indent="0" algn="just">
              <a:buNone/>
            </a:pPr>
            <a:endParaRPr lang="ru-RU" sz="2400" dirty="0">
              <a:solidFill>
                <a:schemeClr val="bg2">
                  <a:lumMod val="10000"/>
                </a:schemeClr>
              </a:solidFill>
            </a:endParaRPr>
          </a:p>
          <a:p>
            <a:pPr marL="0" indent="0" algn="just">
              <a:buNone/>
            </a:pPr>
            <a:r>
              <a:rPr lang="ru-RU" sz="2400" dirty="0">
                <a:solidFill>
                  <a:schemeClr val="tx2">
                    <a:lumMod val="90000"/>
                    <a:lumOff val="10000"/>
                  </a:schemeClr>
                </a:solidFill>
              </a:rPr>
              <a:t>Не делайте опасные для пользователя кнопки кнопками по умолчанию. </a:t>
            </a:r>
            <a:endParaRPr lang="ru-RU" sz="2800" dirty="0">
              <a:solidFill>
                <a:schemeClr val="tx2">
                  <a:lumMod val="90000"/>
                  <a:lumOff val="10000"/>
                </a:schemeClr>
              </a:solidFill>
            </a:endParaRPr>
          </a:p>
          <a:p>
            <a:pPr algn="just"/>
            <a:endParaRPr lang="ru-RU" sz="2400" dirty="0">
              <a:solidFill>
                <a:schemeClr val="bg2">
                  <a:lumMod val="10000"/>
                </a:schemeClr>
              </a:solidFill>
            </a:endParaRPr>
          </a:p>
          <a:p>
            <a:pPr algn="just"/>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1177433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178322" cy="4600419"/>
          </a:xfrm>
        </p:spPr>
        <p:txBody>
          <a:bodyPr>
            <a:normAutofit/>
          </a:bodyPr>
          <a:lstStyle/>
          <a:p>
            <a:pPr marL="0" indent="0" algn="just">
              <a:buNone/>
            </a:pPr>
            <a:r>
              <a:rPr lang="ru-RU" sz="3000" b="1" dirty="0">
                <a:solidFill>
                  <a:schemeClr val="tx2">
                    <a:lumMod val="90000"/>
                    <a:lumOff val="10000"/>
                  </a:schemeClr>
                </a:solidFill>
              </a:rPr>
              <a:t>Количество человеческих ошибок</a:t>
            </a:r>
          </a:p>
          <a:p>
            <a:pPr marL="0" indent="0" algn="just">
              <a:buNone/>
            </a:pPr>
            <a:endParaRPr lang="ru-RU" sz="100" b="1" dirty="0">
              <a:solidFill>
                <a:schemeClr val="tx2">
                  <a:lumMod val="90000"/>
                  <a:lumOff val="10000"/>
                </a:schemeClr>
              </a:solidFill>
            </a:endParaRPr>
          </a:p>
          <a:p>
            <a:pPr marL="0" indent="0" algn="just">
              <a:buNone/>
            </a:pPr>
            <a:r>
              <a:rPr lang="ru-RU" sz="2400" i="1" dirty="0">
                <a:solidFill>
                  <a:schemeClr val="bg2">
                    <a:lumMod val="10000"/>
                  </a:schemeClr>
                </a:solidFill>
              </a:rPr>
              <a:t>Проверка действий пользователя перед их принятием</a:t>
            </a:r>
          </a:p>
          <a:p>
            <a:pPr algn="just"/>
            <a:r>
              <a:rPr lang="ru-RU" sz="2400" dirty="0">
                <a:solidFill>
                  <a:schemeClr val="bg2">
                    <a:lumMod val="10000"/>
                  </a:schemeClr>
                </a:solidFill>
              </a:rPr>
              <a:t>Меню – добавлять в список только корректные команды.</a:t>
            </a:r>
          </a:p>
          <a:p>
            <a:pPr algn="just"/>
            <a:r>
              <a:rPr lang="ru-RU" sz="2400" dirty="0">
                <a:solidFill>
                  <a:schemeClr val="bg2">
                    <a:lumMod val="10000"/>
                  </a:schemeClr>
                </a:solidFill>
              </a:rPr>
              <a:t>Инициировать возможные действия, путем изменения объектов.</a:t>
            </a:r>
          </a:p>
          <a:p>
            <a:pPr marL="0" indent="0" algn="just">
              <a:buNone/>
            </a:pPr>
            <a:endParaRPr lang="ru-RU" sz="2400" dirty="0">
              <a:solidFill>
                <a:schemeClr val="bg2">
                  <a:lumMod val="10000"/>
                </a:schemeClr>
              </a:solidFill>
            </a:endParaRPr>
          </a:p>
          <a:p>
            <a:pPr marL="0" indent="0" algn="just">
              <a:buNone/>
            </a:pPr>
            <a:r>
              <a:rPr lang="ru-RU" sz="2400" dirty="0">
                <a:solidFill>
                  <a:schemeClr val="tx2">
                    <a:lumMod val="90000"/>
                    <a:lumOff val="10000"/>
                  </a:schemeClr>
                </a:solidFill>
              </a:rPr>
              <a:t>Всегда показывайте границы диапазона во всплывающей подсказке. </a:t>
            </a:r>
          </a:p>
          <a:p>
            <a:pPr algn="just"/>
            <a:endParaRPr lang="ru-RU" sz="2400" dirty="0">
              <a:solidFill>
                <a:schemeClr val="bg2">
                  <a:lumMod val="10000"/>
                </a:schemeClr>
              </a:solidFill>
            </a:endParaRPr>
          </a:p>
          <a:p>
            <a:pPr algn="just"/>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912830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178322" cy="4600419"/>
          </a:xfrm>
        </p:spPr>
        <p:txBody>
          <a:bodyPr>
            <a:normAutofit/>
          </a:bodyPr>
          <a:lstStyle/>
          <a:p>
            <a:pPr marL="0" indent="0" algn="just">
              <a:buNone/>
            </a:pPr>
            <a:r>
              <a:rPr lang="ru-RU" sz="3000" b="1" dirty="0">
                <a:solidFill>
                  <a:schemeClr val="tx2">
                    <a:lumMod val="90000"/>
                    <a:lumOff val="10000"/>
                  </a:schemeClr>
                </a:solidFill>
              </a:rPr>
              <a:t>Количество человеческих ошибок</a:t>
            </a:r>
          </a:p>
          <a:p>
            <a:pPr marL="0" indent="0" algn="just">
              <a:buNone/>
            </a:pPr>
            <a:endParaRPr lang="ru-RU" sz="100" b="1" dirty="0">
              <a:solidFill>
                <a:schemeClr val="tx2">
                  <a:lumMod val="90000"/>
                  <a:lumOff val="10000"/>
                </a:schemeClr>
              </a:solidFill>
            </a:endParaRPr>
          </a:p>
          <a:p>
            <a:pPr marL="0" indent="0" algn="just">
              <a:buNone/>
            </a:pPr>
            <a:r>
              <a:rPr lang="ru-RU" sz="2400" i="1" dirty="0">
                <a:solidFill>
                  <a:schemeClr val="bg2">
                    <a:lumMod val="10000"/>
                  </a:schemeClr>
                </a:solidFill>
              </a:rPr>
              <a:t>Самостоятельный выбор команд.</a:t>
            </a:r>
          </a:p>
          <a:p>
            <a:pPr marL="0" indent="0" algn="just">
              <a:buNone/>
            </a:pPr>
            <a:r>
              <a:rPr lang="ru-RU" sz="2400" dirty="0">
                <a:solidFill>
                  <a:schemeClr val="bg2">
                    <a:lumMod val="10000"/>
                  </a:schemeClr>
                </a:solidFill>
              </a:rPr>
              <a:t>Система сама должны узнать большинство сведений, что необходимо запросить у пользователя:</a:t>
            </a:r>
          </a:p>
          <a:p>
            <a:pPr algn="just"/>
            <a:r>
              <a:rPr lang="ru-RU" sz="2400" dirty="0">
                <a:solidFill>
                  <a:schemeClr val="bg2">
                    <a:lumMod val="10000"/>
                  </a:schemeClr>
                </a:solidFill>
              </a:rPr>
              <a:t>Здравый смысл разработчика системы</a:t>
            </a:r>
          </a:p>
          <a:p>
            <a:pPr algn="just"/>
            <a:r>
              <a:rPr lang="ru-RU" sz="2400" dirty="0">
                <a:solidFill>
                  <a:schemeClr val="bg2">
                    <a:lumMod val="10000"/>
                  </a:schemeClr>
                </a:solidFill>
              </a:rPr>
              <a:t>Предыдущие установленные параметры</a:t>
            </a:r>
          </a:p>
          <a:p>
            <a:pPr algn="just"/>
            <a:r>
              <a:rPr lang="ru-RU" sz="2400" dirty="0">
                <a:solidFill>
                  <a:schemeClr val="bg2">
                    <a:lumMod val="10000"/>
                  </a:schemeClr>
                </a:solidFill>
              </a:rPr>
              <a:t>Наиболее часто устанавливаемые параметры</a:t>
            </a:r>
          </a:p>
          <a:p>
            <a:pPr algn="just"/>
            <a:endParaRPr lang="ru-RU" sz="2400" dirty="0">
              <a:solidFill>
                <a:schemeClr val="bg2">
                  <a:lumMod val="10000"/>
                </a:schemeClr>
              </a:solidFill>
            </a:endParaRPr>
          </a:p>
          <a:p>
            <a:pPr algn="just"/>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20057690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178322" cy="4600419"/>
          </a:xfrm>
        </p:spPr>
        <p:txBody>
          <a:bodyPr>
            <a:normAutofit/>
          </a:bodyPr>
          <a:lstStyle/>
          <a:p>
            <a:pPr marL="0" indent="0" algn="just">
              <a:buNone/>
            </a:pPr>
            <a:r>
              <a:rPr lang="ru-RU" sz="3000" b="1" dirty="0">
                <a:solidFill>
                  <a:schemeClr val="tx2">
                    <a:lumMod val="90000"/>
                    <a:lumOff val="10000"/>
                  </a:schemeClr>
                </a:solidFill>
              </a:rPr>
              <a:t>Количество человеческих ошибок</a:t>
            </a:r>
          </a:p>
          <a:p>
            <a:pPr marL="0" indent="0" algn="just">
              <a:buNone/>
            </a:pPr>
            <a:endParaRPr lang="ru-RU" sz="100" b="1" dirty="0">
              <a:solidFill>
                <a:schemeClr val="tx2">
                  <a:lumMod val="90000"/>
                  <a:lumOff val="10000"/>
                </a:schemeClr>
              </a:solidFill>
            </a:endParaRPr>
          </a:p>
          <a:p>
            <a:pPr marL="0" indent="0" algn="just">
              <a:buNone/>
            </a:pPr>
            <a:r>
              <a:rPr lang="ru-RU" sz="2400" dirty="0">
                <a:solidFill>
                  <a:schemeClr val="bg2">
                    <a:lumMod val="10000"/>
                  </a:schemeClr>
                </a:solidFill>
              </a:rPr>
              <a:t>Классификация ошибок по уровню негативного эффекта:</a:t>
            </a:r>
          </a:p>
          <a:p>
            <a:pPr marL="457200" indent="-457200" algn="just">
              <a:buFont typeface="+mj-lt"/>
              <a:buAutoNum type="arabicPeriod"/>
            </a:pPr>
            <a:r>
              <a:rPr lang="ru-RU" sz="2400" dirty="0">
                <a:solidFill>
                  <a:schemeClr val="bg2">
                    <a:lumMod val="10000"/>
                  </a:schemeClr>
                </a:solidFill>
              </a:rPr>
              <a:t>Исправляемые во время совершения действия.</a:t>
            </a:r>
          </a:p>
          <a:p>
            <a:pPr marL="457200" indent="-457200" algn="just">
              <a:buFont typeface="+mj-lt"/>
              <a:buAutoNum type="arabicPeriod"/>
            </a:pPr>
            <a:r>
              <a:rPr lang="ru-RU" sz="2400" dirty="0">
                <a:solidFill>
                  <a:schemeClr val="bg2">
                    <a:lumMod val="10000"/>
                  </a:schemeClr>
                </a:solidFill>
              </a:rPr>
              <a:t>Исправляемые после выполнения действия.</a:t>
            </a:r>
          </a:p>
          <a:p>
            <a:pPr marL="457200" indent="-457200" algn="just">
              <a:buFont typeface="+mj-lt"/>
              <a:buAutoNum type="arabicPeriod"/>
            </a:pPr>
            <a:r>
              <a:rPr lang="ru-RU" sz="2400" dirty="0">
                <a:solidFill>
                  <a:schemeClr val="bg2">
                    <a:lumMod val="10000"/>
                  </a:schemeClr>
                </a:solidFill>
              </a:rPr>
              <a:t>Исправляются с трудом.</a:t>
            </a:r>
          </a:p>
          <a:p>
            <a:pPr marL="457200" indent="-457200" algn="just">
              <a:buFont typeface="+mj-lt"/>
              <a:buAutoNum type="arabicPeriod"/>
            </a:pPr>
            <a:r>
              <a:rPr lang="ru-RU" sz="2400" dirty="0">
                <a:solidFill>
                  <a:schemeClr val="bg2">
                    <a:lumMod val="10000"/>
                  </a:schemeClr>
                </a:solidFill>
              </a:rPr>
              <a:t>Невозможно исправить на практике, обнаружить формальной проверкой.</a:t>
            </a:r>
          </a:p>
          <a:p>
            <a:pPr marL="0" indent="0" algn="just">
              <a:buNone/>
            </a:pPr>
            <a:endParaRPr lang="ru-RU" sz="2400" dirty="0">
              <a:solidFill>
                <a:schemeClr val="bg2">
                  <a:lumMod val="10000"/>
                </a:schemeClr>
              </a:solidFill>
            </a:endParaRPr>
          </a:p>
          <a:p>
            <a:pPr marL="457200" indent="-457200" algn="just">
              <a:buFont typeface="+mj-lt"/>
              <a:buAutoNum type="arabicPeriod"/>
            </a:pPr>
            <a:endParaRPr lang="ru-RU" sz="2400" dirty="0">
              <a:solidFill>
                <a:schemeClr val="bg2">
                  <a:lumMod val="10000"/>
                </a:schemeClr>
              </a:solidFill>
            </a:endParaRPr>
          </a:p>
          <a:p>
            <a:pPr algn="just"/>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18012761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178322" cy="4600419"/>
          </a:xfrm>
        </p:spPr>
        <p:txBody>
          <a:bodyPr>
            <a:normAutofit/>
          </a:bodyPr>
          <a:lstStyle/>
          <a:p>
            <a:pPr marL="0" indent="0" algn="just">
              <a:buNone/>
            </a:pPr>
            <a:r>
              <a:rPr lang="ru-RU" sz="3000" b="1" dirty="0">
                <a:solidFill>
                  <a:schemeClr val="tx2">
                    <a:lumMod val="90000"/>
                    <a:lumOff val="10000"/>
                  </a:schemeClr>
                </a:solidFill>
              </a:rPr>
              <a:t>Количество человеческих ошибок</a:t>
            </a:r>
          </a:p>
          <a:p>
            <a:pPr marL="0" indent="0" algn="just">
              <a:buNone/>
            </a:pPr>
            <a:endParaRPr lang="ru-RU" sz="100" b="1" dirty="0">
              <a:solidFill>
                <a:schemeClr val="tx2">
                  <a:lumMod val="90000"/>
                  <a:lumOff val="10000"/>
                </a:schemeClr>
              </a:solidFill>
            </a:endParaRPr>
          </a:p>
          <a:p>
            <a:pPr marL="0" indent="0" algn="just">
              <a:buNone/>
            </a:pPr>
            <a:r>
              <a:rPr lang="ru-RU" sz="2400" dirty="0">
                <a:solidFill>
                  <a:schemeClr val="bg2">
                    <a:lumMod val="10000"/>
                  </a:schemeClr>
                </a:solidFill>
              </a:rPr>
              <a:t>Чтобы исправить ошибку от пользователя нужно:</a:t>
            </a:r>
          </a:p>
          <a:p>
            <a:pPr marL="457200" indent="-457200" algn="just">
              <a:buFont typeface="+mj-lt"/>
              <a:buAutoNum type="arabicPeriod"/>
            </a:pPr>
            <a:r>
              <a:rPr lang="ru-RU" sz="2400" dirty="0">
                <a:solidFill>
                  <a:schemeClr val="bg2">
                    <a:lumMod val="10000"/>
                  </a:schemeClr>
                </a:solidFill>
              </a:rPr>
              <a:t>Понять что ошибка совершена</a:t>
            </a:r>
          </a:p>
          <a:p>
            <a:pPr marL="457200" indent="-457200" algn="just">
              <a:buFont typeface="+mj-lt"/>
              <a:buAutoNum type="arabicPeriod"/>
            </a:pPr>
            <a:r>
              <a:rPr lang="ru-RU" sz="2400" dirty="0">
                <a:solidFill>
                  <a:schemeClr val="bg2">
                    <a:lumMod val="10000"/>
                  </a:schemeClr>
                </a:solidFill>
              </a:rPr>
              <a:t>Понять как ее исправить</a:t>
            </a:r>
          </a:p>
          <a:p>
            <a:pPr marL="457200" indent="-457200" algn="just">
              <a:buFont typeface="+mj-lt"/>
              <a:buAutoNum type="arabicPeriod"/>
            </a:pPr>
            <a:r>
              <a:rPr lang="ru-RU" sz="2400" dirty="0">
                <a:solidFill>
                  <a:schemeClr val="bg2">
                    <a:lumMod val="10000"/>
                  </a:schemeClr>
                </a:solidFill>
              </a:rPr>
              <a:t>Потратить время на ее исправление</a:t>
            </a:r>
          </a:p>
          <a:p>
            <a:pPr marL="0" indent="0" algn="just">
              <a:buNone/>
            </a:pPr>
            <a:endParaRPr lang="ru-RU" sz="2400" dirty="0">
              <a:solidFill>
                <a:schemeClr val="bg2">
                  <a:lumMod val="10000"/>
                </a:schemeClr>
              </a:solidFill>
            </a:endParaRPr>
          </a:p>
          <a:p>
            <a:pPr marL="0" indent="0" algn="just">
              <a:buNone/>
            </a:pPr>
            <a:r>
              <a:rPr lang="ru-RU" sz="2400" dirty="0">
                <a:solidFill>
                  <a:schemeClr val="tx2">
                    <a:lumMod val="90000"/>
                    <a:lumOff val="10000"/>
                  </a:schemeClr>
                </a:solidFill>
              </a:rPr>
              <a:t>Наличие человеческих ошибок, которых нельзя обнаружить и исправить до окончательного совершения действия, всегда свидетельствует о недостаточно хорошем дизайне. </a:t>
            </a:r>
          </a:p>
          <a:p>
            <a:pPr marL="457200" indent="-457200" algn="just">
              <a:buFont typeface="+mj-lt"/>
              <a:buAutoNum type="arabicPeriod"/>
            </a:pPr>
            <a:endParaRPr lang="ru-RU" sz="2400" dirty="0">
              <a:solidFill>
                <a:schemeClr val="bg2">
                  <a:lumMod val="10000"/>
                </a:schemeClr>
              </a:solidFill>
            </a:endParaRPr>
          </a:p>
          <a:p>
            <a:pPr algn="just"/>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pic>
        <p:nvPicPr>
          <p:cNvPr id="1026" name="Picture 2" descr="Picture background">
            <a:extLst>
              <a:ext uri="{FF2B5EF4-FFF2-40B4-BE49-F238E27FC236}">
                <a16:creationId xmlns:a16="http://schemas.microsoft.com/office/drawing/2014/main" id="{0441EC31-D10F-583B-45A3-33B9BB0DFA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7845" y="2499851"/>
            <a:ext cx="2897239" cy="2172929"/>
          </a:xfrm>
          <a:prstGeom prst="rect">
            <a:avLst/>
          </a:prstGeom>
          <a:ln w="3175" cap="sq" cmpd="thickThin">
            <a:solidFill>
              <a:srgbClr val="000000"/>
            </a:solidFill>
            <a:prstDash val="solid"/>
            <a:miter lim="800000"/>
          </a:ln>
          <a:effectLst>
            <a:glow rad="63500">
              <a:schemeClr val="accent6">
                <a:satMod val="175000"/>
                <a:alpha val="40000"/>
              </a:schemeClr>
            </a:glow>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97429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178322" cy="4600419"/>
          </a:xfrm>
        </p:spPr>
        <p:txBody>
          <a:bodyPr>
            <a:normAutofit/>
          </a:bodyPr>
          <a:lstStyle/>
          <a:p>
            <a:pPr marL="0" indent="0" algn="just">
              <a:buNone/>
            </a:pPr>
            <a:r>
              <a:rPr lang="ru-RU" sz="3000" b="1" dirty="0">
                <a:solidFill>
                  <a:schemeClr val="tx2">
                    <a:lumMod val="90000"/>
                    <a:lumOff val="10000"/>
                  </a:schemeClr>
                </a:solidFill>
              </a:rPr>
              <a:t>Скорость обучения</a:t>
            </a:r>
          </a:p>
          <a:p>
            <a:pPr marL="0" indent="0" algn="just">
              <a:buNone/>
            </a:pPr>
            <a:endParaRPr lang="ru-RU" sz="100" b="1" dirty="0">
              <a:solidFill>
                <a:schemeClr val="tx2">
                  <a:lumMod val="90000"/>
                  <a:lumOff val="10000"/>
                </a:schemeClr>
              </a:solidFill>
            </a:endParaRPr>
          </a:p>
          <a:p>
            <a:pPr marL="0" indent="0" algn="just">
              <a:buNone/>
            </a:pPr>
            <a:r>
              <a:rPr lang="ru-RU" sz="2400" dirty="0">
                <a:solidFill>
                  <a:schemeClr val="bg2">
                    <a:lumMod val="10000"/>
                  </a:schemeClr>
                </a:solidFill>
              </a:rPr>
              <a:t>Роль обучения операторов чрезвычайно велика. Если человек будет сочтен неподходящим, к системе его просто не допустят. </a:t>
            </a:r>
          </a:p>
          <a:p>
            <a:pPr algn="just"/>
            <a:r>
              <a:rPr lang="ru-RU" sz="2200" dirty="0">
                <a:solidFill>
                  <a:schemeClr val="bg2">
                    <a:lumMod val="10000"/>
                  </a:schemeClr>
                </a:solidFill>
              </a:rPr>
              <a:t>Обучение есть действие: если обучаться легко, пользователям будет достаточно слабого стимула, если тяжело – стимул придется увеличивать. </a:t>
            </a:r>
          </a:p>
          <a:p>
            <a:pPr algn="just"/>
            <a:r>
              <a:rPr lang="ru-RU" sz="2200" dirty="0">
                <a:solidFill>
                  <a:schemeClr val="bg2">
                    <a:lumMod val="10000"/>
                  </a:schemeClr>
                </a:solidFill>
              </a:rPr>
              <a:t>Пользователь будет учиться какой-либо функции, только если он знает о ее существовании, поскольку, не обладая этим знанием, он не способен узнать, что за ее использование жизнь даст ему награду.</a:t>
            </a:r>
          </a:p>
          <a:p>
            <a:pPr algn="just"/>
            <a:r>
              <a:rPr lang="ru-RU" sz="2200" dirty="0">
                <a:solidFill>
                  <a:schemeClr val="bg2">
                    <a:lumMod val="10000"/>
                  </a:schemeClr>
                </a:solidFill>
              </a:rPr>
              <a:t>Рассчитывайте на средних пользователей, а не новичков или на профессионалов: средних пользователей, как-никак, абсолютное большинство.</a:t>
            </a:r>
          </a:p>
          <a:p>
            <a:pPr algn="just"/>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3174670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178322" cy="4600419"/>
          </a:xfrm>
        </p:spPr>
        <p:txBody>
          <a:bodyPr>
            <a:normAutofit/>
          </a:bodyPr>
          <a:lstStyle/>
          <a:p>
            <a:pPr marL="0" indent="0" algn="just">
              <a:buNone/>
            </a:pPr>
            <a:r>
              <a:rPr lang="ru-RU" sz="3000" b="1" dirty="0">
                <a:solidFill>
                  <a:schemeClr val="tx2">
                    <a:lumMod val="90000"/>
                    <a:lumOff val="10000"/>
                  </a:schemeClr>
                </a:solidFill>
              </a:rPr>
              <a:t>Скорость обучения</a:t>
            </a:r>
          </a:p>
          <a:p>
            <a:pPr marL="0" indent="0" algn="just">
              <a:buNone/>
            </a:pPr>
            <a:endParaRPr lang="ru-RU" sz="100" b="1" dirty="0">
              <a:solidFill>
                <a:schemeClr val="tx2">
                  <a:lumMod val="90000"/>
                  <a:lumOff val="10000"/>
                </a:schemeClr>
              </a:solidFill>
            </a:endParaRPr>
          </a:p>
          <a:p>
            <a:pPr marL="0" indent="0" algn="just">
              <a:buNone/>
            </a:pPr>
            <a:r>
              <a:rPr lang="ru-RU" sz="2400" dirty="0">
                <a:solidFill>
                  <a:schemeClr val="bg2">
                    <a:lumMod val="10000"/>
                  </a:schemeClr>
                </a:solidFill>
              </a:rPr>
              <a:t>Роль обучения операторов чрезвычайно велика. Если человек будет сочтен неподходящим, к системе его просто не допустят. </a:t>
            </a:r>
          </a:p>
          <a:p>
            <a:pPr algn="just"/>
            <a:r>
              <a:rPr lang="ru-RU" sz="2200" dirty="0">
                <a:solidFill>
                  <a:schemeClr val="bg2">
                    <a:lumMod val="10000"/>
                  </a:schemeClr>
                </a:solidFill>
              </a:rPr>
              <a:t>Обучение есть действие: если обучаться легко, пользователям будет достаточно слабого стимула, если тяжело – стимул придется увеличивать. </a:t>
            </a:r>
          </a:p>
          <a:p>
            <a:pPr algn="just"/>
            <a:r>
              <a:rPr lang="ru-RU" sz="2200" dirty="0">
                <a:solidFill>
                  <a:schemeClr val="bg2">
                    <a:lumMod val="10000"/>
                  </a:schemeClr>
                </a:solidFill>
              </a:rPr>
              <a:t>Пользователь будет учиться какой-либо функции, только если он знает о ее существовании, поскольку, не обладая этим знанием, он не способен узнать, что за ее использование жизнь даст ему награду.</a:t>
            </a:r>
          </a:p>
          <a:p>
            <a:pPr algn="just"/>
            <a:r>
              <a:rPr lang="ru-RU" sz="2200" dirty="0">
                <a:solidFill>
                  <a:schemeClr val="bg2">
                    <a:lumMod val="10000"/>
                  </a:schemeClr>
                </a:solidFill>
              </a:rPr>
              <a:t>Рассчитывайте на средних пользователей, а не новичков или на профессионалов: средних пользователей, как-никак, абсолютное большинство.</a:t>
            </a:r>
          </a:p>
          <a:p>
            <a:pPr algn="just"/>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2416392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178322" cy="4600419"/>
          </a:xfrm>
        </p:spPr>
        <p:txBody>
          <a:bodyPr>
            <a:normAutofit/>
          </a:bodyPr>
          <a:lstStyle/>
          <a:p>
            <a:pPr marL="0" indent="0" algn="just">
              <a:buNone/>
            </a:pPr>
            <a:r>
              <a:rPr lang="ru-RU" sz="3000" b="1" dirty="0">
                <a:solidFill>
                  <a:schemeClr val="tx2">
                    <a:lumMod val="90000"/>
                    <a:lumOff val="10000"/>
                  </a:schemeClr>
                </a:solidFill>
              </a:rPr>
              <a:t>Скорость обучения</a:t>
            </a:r>
          </a:p>
          <a:p>
            <a:pPr marL="0" indent="0" algn="just">
              <a:buNone/>
            </a:pPr>
            <a:endParaRPr lang="ru-RU" sz="100" b="1" dirty="0">
              <a:solidFill>
                <a:schemeClr val="tx2">
                  <a:lumMod val="90000"/>
                  <a:lumOff val="10000"/>
                </a:schemeClr>
              </a:solidFill>
            </a:endParaRPr>
          </a:p>
          <a:p>
            <a:pPr marL="0" indent="0" algn="just">
              <a:buNone/>
            </a:pPr>
            <a:r>
              <a:rPr lang="ru-RU" sz="2400" dirty="0">
                <a:solidFill>
                  <a:schemeClr val="bg2">
                    <a:lumMod val="10000"/>
                  </a:schemeClr>
                </a:solidFill>
              </a:rPr>
              <a:t>Обычно считается, что в случае ПО есть два способа повысить эффективность обучения, а именно: </a:t>
            </a:r>
            <a:r>
              <a:rPr lang="ru-RU" sz="2400" dirty="0">
                <a:solidFill>
                  <a:schemeClr val="tx2">
                    <a:lumMod val="90000"/>
                    <a:lumOff val="10000"/>
                  </a:schemeClr>
                </a:solidFill>
              </a:rPr>
              <a:t>бумажная документация </a:t>
            </a:r>
            <a:r>
              <a:rPr lang="ru-RU" sz="2400" dirty="0">
                <a:solidFill>
                  <a:schemeClr val="bg2">
                    <a:lumMod val="10000"/>
                  </a:schemeClr>
                </a:solidFill>
              </a:rPr>
              <a:t>и «</a:t>
            </a:r>
            <a:r>
              <a:rPr lang="ru-RU" sz="2400" dirty="0">
                <a:solidFill>
                  <a:schemeClr val="tx2">
                    <a:lumMod val="90000"/>
                    <a:lumOff val="10000"/>
                  </a:schemeClr>
                </a:solidFill>
              </a:rPr>
              <a:t>оперативная справка</a:t>
            </a:r>
            <a:r>
              <a:rPr lang="ru-RU" sz="2400" dirty="0">
                <a:solidFill>
                  <a:schemeClr val="bg2">
                    <a:lumMod val="10000"/>
                  </a:schemeClr>
                </a:solidFill>
              </a:rPr>
              <a:t>». </a:t>
            </a:r>
          </a:p>
          <a:p>
            <a:pPr marL="0" indent="0" algn="just">
              <a:buNone/>
            </a:pPr>
            <a:endParaRPr lang="ru-RU" sz="100" dirty="0">
              <a:solidFill>
                <a:schemeClr val="bg2">
                  <a:lumMod val="10000"/>
                </a:schemeClr>
              </a:solidFill>
            </a:endParaRPr>
          </a:p>
          <a:p>
            <a:pPr marL="0" indent="0" algn="just">
              <a:buNone/>
            </a:pPr>
            <a:r>
              <a:rPr lang="ru-RU" sz="2400" dirty="0">
                <a:solidFill>
                  <a:schemeClr val="bg2">
                    <a:lumMod val="10000"/>
                  </a:schemeClr>
                </a:solidFill>
              </a:rPr>
              <a:t>Но существуют более эффективные способы: </a:t>
            </a:r>
          </a:p>
          <a:p>
            <a:pPr algn="just"/>
            <a:r>
              <a:rPr lang="ru-RU" sz="2400" i="1" dirty="0">
                <a:solidFill>
                  <a:schemeClr val="bg2">
                    <a:lumMod val="10000"/>
                  </a:schemeClr>
                </a:solidFill>
              </a:rPr>
              <a:t>«Понятность» системы</a:t>
            </a:r>
          </a:p>
          <a:p>
            <a:pPr algn="just"/>
            <a:r>
              <a:rPr lang="ru-RU" sz="2400" i="1" dirty="0">
                <a:solidFill>
                  <a:schemeClr val="bg2">
                    <a:lumMod val="10000"/>
                  </a:schemeClr>
                </a:solidFill>
              </a:rPr>
              <a:t>Обучающие материалы</a:t>
            </a:r>
          </a:p>
          <a:p>
            <a:pPr marL="0" indent="0" algn="just">
              <a:buNone/>
            </a:pPr>
            <a:endParaRPr lang="ru-RU" sz="2400" dirty="0">
              <a:solidFill>
                <a:schemeClr val="bg2">
                  <a:lumMod val="10000"/>
                </a:schemeClr>
              </a:solidFill>
            </a:endParaRPr>
          </a:p>
          <a:p>
            <a:pPr marL="0" indent="0" algn="just">
              <a:buNone/>
            </a:pPr>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32838431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178322" cy="4600419"/>
          </a:xfrm>
        </p:spPr>
        <p:txBody>
          <a:bodyPr>
            <a:normAutofit/>
          </a:bodyPr>
          <a:lstStyle/>
          <a:p>
            <a:pPr marL="0" indent="0" algn="just">
              <a:buNone/>
            </a:pPr>
            <a:r>
              <a:rPr lang="ru-RU" sz="3000" b="1" dirty="0">
                <a:solidFill>
                  <a:schemeClr val="tx2">
                    <a:lumMod val="90000"/>
                    <a:lumOff val="10000"/>
                  </a:schemeClr>
                </a:solidFill>
              </a:rPr>
              <a:t>Скорость обучения</a:t>
            </a:r>
            <a:endParaRPr lang="ru-RU" sz="100" b="1" dirty="0">
              <a:solidFill>
                <a:schemeClr val="tx2">
                  <a:lumMod val="90000"/>
                  <a:lumOff val="10000"/>
                </a:schemeClr>
              </a:solidFill>
            </a:endParaRPr>
          </a:p>
          <a:p>
            <a:pPr marL="0" indent="0" algn="just">
              <a:buNone/>
            </a:pPr>
            <a:r>
              <a:rPr lang="ru-RU" sz="2400" i="1" dirty="0">
                <a:solidFill>
                  <a:schemeClr val="bg2">
                    <a:lumMod val="10000"/>
                  </a:schemeClr>
                </a:solidFill>
              </a:rPr>
              <a:t>Понятность системы</a:t>
            </a:r>
          </a:p>
          <a:p>
            <a:pPr marL="0" indent="0" algn="just">
              <a:buNone/>
            </a:pPr>
            <a:r>
              <a:rPr lang="ru-RU" sz="2400" dirty="0">
                <a:solidFill>
                  <a:schemeClr val="bg2">
                    <a:lumMod val="10000"/>
                  </a:schemeClr>
                </a:solidFill>
              </a:rPr>
              <a:t>Термин «понятность» включает в себя четыре составляющие: </a:t>
            </a:r>
          </a:p>
          <a:p>
            <a:pPr algn="just"/>
            <a:r>
              <a:rPr lang="ru-RU" sz="2400" dirty="0">
                <a:solidFill>
                  <a:schemeClr val="bg2">
                    <a:lumMod val="10000"/>
                  </a:schemeClr>
                </a:solidFill>
              </a:rPr>
              <a:t>ментальную модель</a:t>
            </a:r>
          </a:p>
          <a:p>
            <a:pPr algn="just"/>
            <a:r>
              <a:rPr lang="ru-RU" sz="2400" dirty="0">
                <a:solidFill>
                  <a:schemeClr val="bg2">
                    <a:lumMod val="10000"/>
                  </a:schemeClr>
                </a:solidFill>
              </a:rPr>
              <a:t>метафору</a:t>
            </a:r>
          </a:p>
          <a:p>
            <a:pPr algn="just"/>
            <a:r>
              <a:rPr lang="ru-RU" sz="2400" dirty="0">
                <a:solidFill>
                  <a:schemeClr val="bg2">
                    <a:lumMod val="10000"/>
                  </a:schemeClr>
                </a:solidFill>
              </a:rPr>
              <a:t>аффорданс </a:t>
            </a:r>
          </a:p>
          <a:p>
            <a:pPr algn="just"/>
            <a:r>
              <a:rPr lang="ru-RU" sz="2400" dirty="0">
                <a:solidFill>
                  <a:schemeClr val="bg2">
                    <a:lumMod val="10000"/>
                  </a:schemeClr>
                </a:solidFill>
              </a:rPr>
              <a:t>стандарт.</a:t>
            </a:r>
          </a:p>
          <a:p>
            <a:pPr marL="0" indent="0" algn="just">
              <a:buNone/>
            </a:pPr>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pic>
        <p:nvPicPr>
          <p:cNvPr id="4" name="Picture 2" descr="Picture background">
            <a:extLst>
              <a:ext uri="{FF2B5EF4-FFF2-40B4-BE49-F238E27FC236}">
                <a16:creationId xmlns:a16="http://schemas.microsoft.com/office/drawing/2014/main" id="{3D0D5DD5-213F-848A-E526-31AE82DBC4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924"/>
          <a:stretch/>
        </p:blipFill>
        <p:spPr bwMode="auto">
          <a:xfrm>
            <a:off x="7143623" y="3713277"/>
            <a:ext cx="4281461" cy="2166413"/>
          </a:xfrm>
          <a:prstGeom prst="rect">
            <a:avLst/>
          </a:prstGeom>
          <a:ln w="3175" cap="sq" cmpd="thickThin">
            <a:solidFill>
              <a:srgbClr val="000000"/>
            </a:solidFill>
            <a:prstDash val="solid"/>
            <a:miter lim="800000"/>
          </a:ln>
          <a:effectLst>
            <a:glow rad="63500">
              <a:schemeClr val="accent6">
                <a:satMod val="175000"/>
                <a:alpha val="40000"/>
              </a:schemeClr>
            </a:glow>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30785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46762" y="2026522"/>
            <a:ext cx="10178322" cy="4600419"/>
          </a:xfrm>
        </p:spPr>
        <p:txBody>
          <a:bodyPr>
            <a:normAutofit/>
          </a:bodyPr>
          <a:lstStyle/>
          <a:p>
            <a:pPr marL="0" indent="0" algn="just">
              <a:buNone/>
            </a:pPr>
            <a:r>
              <a:rPr lang="ru-RU" sz="3000" b="1" dirty="0">
                <a:solidFill>
                  <a:schemeClr val="tx2">
                    <a:lumMod val="90000"/>
                    <a:lumOff val="10000"/>
                  </a:schemeClr>
                </a:solidFill>
              </a:rPr>
              <a:t>Скорость обучения</a:t>
            </a:r>
          </a:p>
          <a:p>
            <a:pPr marL="0" indent="0" algn="just">
              <a:buNone/>
            </a:pPr>
            <a:endParaRPr lang="ru-RU" sz="100" b="1" dirty="0">
              <a:solidFill>
                <a:schemeClr val="tx2">
                  <a:lumMod val="90000"/>
                  <a:lumOff val="10000"/>
                </a:schemeClr>
              </a:solidFill>
            </a:endParaRPr>
          </a:p>
          <a:p>
            <a:pPr marL="0" indent="0" algn="just">
              <a:buNone/>
            </a:pPr>
            <a:r>
              <a:rPr lang="ru-RU" sz="2400" i="1" dirty="0">
                <a:solidFill>
                  <a:schemeClr val="bg2">
                    <a:lumMod val="10000"/>
                  </a:schemeClr>
                </a:solidFill>
              </a:rPr>
              <a:t>Понятность системы</a:t>
            </a:r>
          </a:p>
          <a:p>
            <a:pPr marL="0" indent="0" algn="just">
              <a:buNone/>
            </a:pPr>
            <a:r>
              <a:rPr lang="ru-RU" sz="2400" dirty="0">
                <a:solidFill>
                  <a:schemeClr val="tx2">
                    <a:lumMod val="90000"/>
                    <a:lumOff val="10000"/>
                  </a:schemeClr>
                </a:solidFill>
              </a:rPr>
              <a:t>Ментальная модель </a:t>
            </a:r>
            <a:r>
              <a:rPr lang="ru-RU" sz="2400" dirty="0">
                <a:solidFill>
                  <a:schemeClr val="bg2">
                    <a:lumMod val="10000"/>
                  </a:schemeClr>
                </a:solidFill>
              </a:rPr>
              <a:t>– понимание пользователем принципов работы системы, без знаний сущностей процессов, происходящих в ней и правильного понимания самих процессов. </a:t>
            </a:r>
          </a:p>
          <a:p>
            <a:pPr algn="just"/>
            <a:r>
              <a:rPr lang="ru-RU" sz="2400" dirty="0">
                <a:solidFill>
                  <a:schemeClr val="bg2">
                    <a:lumMod val="10000"/>
                  </a:schemeClr>
                </a:solidFill>
              </a:rPr>
              <a:t>Наблюдая за событиями, мы их обобщаем и храним в памяти единую картину. </a:t>
            </a:r>
          </a:p>
          <a:p>
            <a:pPr marL="0" indent="0" algn="just">
              <a:buNone/>
            </a:pPr>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32016284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8" y="2016690"/>
            <a:ext cx="10178322" cy="4600419"/>
          </a:xfrm>
        </p:spPr>
        <p:txBody>
          <a:bodyPr>
            <a:normAutofit fontScale="77500" lnSpcReduction="20000"/>
          </a:bodyPr>
          <a:lstStyle/>
          <a:p>
            <a:pPr marL="0" indent="0" algn="just">
              <a:buNone/>
            </a:pPr>
            <a:r>
              <a:rPr lang="ru-RU" sz="3200" b="1" dirty="0">
                <a:solidFill>
                  <a:schemeClr val="tx2">
                    <a:lumMod val="90000"/>
                    <a:lumOff val="10000"/>
                  </a:schemeClr>
                </a:solidFill>
              </a:rPr>
              <a:t>Скорость обучения</a:t>
            </a:r>
          </a:p>
          <a:p>
            <a:pPr marL="0" indent="0" algn="just">
              <a:buNone/>
            </a:pPr>
            <a:endParaRPr lang="ru-RU" sz="100" b="1" dirty="0">
              <a:solidFill>
                <a:schemeClr val="tx2">
                  <a:lumMod val="90000"/>
                  <a:lumOff val="10000"/>
                </a:schemeClr>
              </a:solidFill>
            </a:endParaRPr>
          </a:p>
          <a:p>
            <a:pPr marL="0" indent="0" algn="just">
              <a:buNone/>
            </a:pPr>
            <a:r>
              <a:rPr lang="ru-RU" sz="3100" i="1" dirty="0">
                <a:solidFill>
                  <a:schemeClr val="bg2">
                    <a:lumMod val="10000"/>
                  </a:schemeClr>
                </a:solidFill>
              </a:rPr>
              <a:t>Понятность системы</a:t>
            </a:r>
          </a:p>
          <a:p>
            <a:pPr marL="0" indent="0" algn="just">
              <a:buNone/>
            </a:pPr>
            <a:r>
              <a:rPr lang="ru-RU" sz="3100" dirty="0">
                <a:solidFill>
                  <a:schemeClr val="tx2">
                    <a:lumMod val="90000"/>
                    <a:lumOff val="10000"/>
                  </a:schemeClr>
                </a:solidFill>
              </a:rPr>
              <a:t>Метафора </a:t>
            </a:r>
            <a:r>
              <a:rPr lang="ru-RU" sz="3100" dirty="0">
                <a:solidFill>
                  <a:schemeClr val="bg2">
                    <a:lumMod val="10000"/>
                  </a:schemeClr>
                </a:solidFill>
              </a:rPr>
              <a:t>– использование старой модели другого проекта/задачи, для демонстрации работы программы.</a:t>
            </a:r>
          </a:p>
          <a:p>
            <a:pPr marL="0" indent="0" algn="just">
              <a:buNone/>
            </a:pPr>
            <a:endParaRPr lang="ru-RU" sz="100" dirty="0">
              <a:solidFill>
                <a:schemeClr val="bg2">
                  <a:lumMod val="10000"/>
                </a:schemeClr>
              </a:solidFill>
            </a:endParaRPr>
          </a:p>
          <a:p>
            <a:pPr marL="0" indent="0" algn="just">
              <a:buNone/>
            </a:pPr>
            <a:r>
              <a:rPr lang="ru-RU" sz="3100" dirty="0">
                <a:solidFill>
                  <a:schemeClr val="bg2">
                    <a:lumMod val="10000"/>
                  </a:schemeClr>
                </a:solidFill>
              </a:rPr>
              <a:t>Анализируя опыт применения метафор, можно вывести следующие правила: </a:t>
            </a:r>
          </a:p>
          <a:p>
            <a:pPr algn="just"/>
            <a:r>
              <a:rPr lang="ru-RU" sz="2600" dirty="0">
                <a:solidFill>
                  <a:schemeClr val="bg2">
                    <a:lumMod val="10000"/>
                  </a:schemeClr>
                </a:solidFill>
              </a:rPr>
              <a:t>опасно полностью копировать метафору, достаточно взять из нее самое лучшее</a:t>
            </a:r>
          </a:p>
          <a:p>
            <a:pPr algn="just"/>
            <a:r>
              <a:rPr lang="ru-RU" sz="2600" dirty="0">
                <a:solidFill>
                  <a:schemeClr val="bg2">
                    <a:lumMod val="10000"/>
                  </a:schemeClr>
                </a:solidFill>
              </a:rPr>
              <a:t>не обязательно брать метафору из реального мира, ее смело можно придумать самому</a:t>
            </a:r>
          </a:p>
          <a:p>
            <a:pPr algn="just"/>
            <a:r>
              <a:rPr lang="ru-RU" sz="2600" dirty="0">
                <a:solidFill>
                  <a:schemeClr val="bg2">
                    <a:lumMod val="10000"/>
                  </a:schemeClr>
                </a:solidFill>
              </a:rPr>
              <a:t>эффективнее всего метафорически объяснять значение отдельных объектов</a:t>
            </a:r>
          </a:p>
          <a:p>
            <a:pPr algn="just"/>
            <a:r>
              <a:rPr lang="ru-RU" sz="2600" dirty="0">
                <a:solidFill>
                  <a:schemeClr val="bg2">
                    <a:lumMod val="10000"/>
                  </a:schemeClr>
                </a:solidFill>
              </a:rPr>
              <a:t>если метафора ограничивает систему, от нее необходимо немедленно отказаться.</a:t>
            </a: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13831710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8" y="2016690"/>
            <a:ext cx="7046748" cy="4600419"/>
          </a:xfrm>
        </p:spPr>
        <p:txBody>
          <a:bodyPr>
            <a:normAutofit lnSpcReduction="10000"/>
          </a:bodyPr>
          <a:lstStyle/>
          <a:p>
            <a:pPr marL="0" indent="0" algn="just">
              <a:buNone/>
            </a:pPr>
            <a:r>
              <a:rPr lang="ru-RU" sz="3200" b="1" dirty="0">
                <a:solidFill>
                  <a:schemeClr val="tx2">
                    <a:lumMod val="90000"/>
                    <a:lumOff val="10000"/>
                  </a:schemeClr>
                </a:solidFill>
              </a:rPr>
              <a:t>Скорость обучения</a:t>
            </a:r>
          </a:p>
          <a:p>
            <a:pPr marL="0" indent="0" algn="just">
              <a:buNone/>
            </a:pPr>
            <a:endParaRPr lang="ru-RU" sz="100" b="1" dirty="0">
              <a:solidFill>
                <a:schemeClr val="tx2">
                  <a:lumMod val="90000"/>
                  <a:lumOff val="10000"/>
                </a:schemeClr>
              </a:solidFill>
            </a:endParaRPr>
          </a:p>
          <a:p>
            <a:pPr marL="0" indent="0" algn="just">
              <a:buNone/>
            </a:pPr>
            <a:r>
              <a:rPr lang="ru-RU" sz="2400" i="1" dirty="0">
                <a:solidFill>
                  <a:schemeClr val="bg2">
                    <a:lumMod val="10000"/>
                  </a:schemeClr>
                </a:solidFill>
              </a:rPr>
              <a:t>Понятность системы</a:t>
            </a:r>
          </a:p>
          <a:p>
            <a:pPr marL="0" indent="0" algn="just">
              <a:buNone/>
            </a:pPr>
            <a:r>
              <a:rPr lang="ru-RU" sz="2400" dirty="0">
                <a:solidFill>
                  <a:schemeClr val="tx2">
                    <a:lumMod val="90000"/>
                    <a:lumOff val="10000"/>
                  </a:schemeClr>
                </a:solidFill>
              </a:rPr>
              <a:t>Аффорданс </a:t>
            </a:r>
            <a:r>
              <a:rPr lang="ru-RU" sz="2400" dirty="0">
                <a:solidFill>
                  <a:schemeClr val="bg2">
                    <a:lumMod val="10000"/>
                  </a:schemeClr>
                </a:solidFill>
              </a:rPr>
              <a:t>– ситуация, при которой объект показывает субъекту способ своего использования своими неотъемлемыми свойствами. </a:t>
            </a:r>
          </a:p>
          <a:p>
            <a:pPr marL="0" indent="0" algn="just">
              <a:buNone/>
            </a:pPr>
            <a:r>
              <a:rPr lang="ru-RU" sz="2400" dirty="0">
                <a:solidFill>
                  <a:schemeClr val="bg2">
                    <a:lumMod val="10000"/>
                  </a:schemeClr>
                </a:solidFill>
              </a:rPr>
              <a:t>Польза аффорданса заключается в том, что он позволяет пользователям обходиться без какого-либо предварительного обучения, благодаря этому аффорданс является самым эффективным и надежным средством обеспечения понятности</a:t>
            </a:r>
          </a:p>
          <a:p>
            <a:pPr marL="0" indent="0" algn="just">
              <a:buNone/>
            </a:pPr>
            <a:endParaRPr lang="ru-RU" sz="2400" dirty="0">
              <a:solidFill>
                <a:schemeClr val="bg2">
                  <a:lumMod val="10000"/>
                </a:schemeClr>
              </a:solidFill>
            </a:endParaRPr>
          </a:p>
          <a:p>
            <a:pPr marL="0" indent="0" algn="just">
              <a:buNone/>
            </a:pPr>
            <a:endParaRPr lang="ru-RU" sz="1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pic>
        <p:nvPicPr>
          <p:cNvPr id="5" name="Рисунок 4">
            <a:extLst>
              <a:ext uri="{FF2B5EF4-FFF2-40B4-BE49-F238E27FC236}">
                <a16:creationId xmlns:a16="http://schemas.microsoft.com/office/drawing/2014/main" id="{50EB0D38-9C1F-4676-CBD4-E1FC63FB17CB}"/>
              </a:ext>
            </a:extLst>
          </p:cNvPr>
          <p:cNvPicPr>
            <a:picLocks noChangeAspect="1"/>
          </p:cNvPicPr>
          <p:nvPr/>
        </p:nvPicPr>
        <p:blipFill>
          <a:blip r:embed="rId3"/>
          <a:stretch>
            <a:fillRect/>
          </a:stretch>
        </p:blipFill>
        <p:spPr>
          <a:xfrm>
            <a:off x="8555573" y="2594306"/>
            <a:ext cx="2982582" cy="2719617"/>
          </a:xfrm>
          <a:prstGeom prst="rect">
            <a:avLst/>
          </a:prstGeom>
          <a:ln w="3175" cap="sq" cmpd="thickThin">
            <a:solidFill>
              <a:srgbClr val="000000"/>
            </a:solidFill>
            <a:prstDash val="solid"/>
            <a:miter lim="800000"/>
          </a:ln>
          <a:effectLst>
            <a:glow rad="63500">
              <a:schemeClr val="accent6">
                <a:satMod val="175000"/>
                <a:alpha val="40000"/>
              </a:schemeClr>
            </a:glow>
            <a:innerShdw blurRad="76200">
              <a:srgbClr val="000000"/>
            </a:innerShdw>
          </a:effectLst>
        </p:spPr>
      </p:pic>
    </p:spTree>
    <p:extLst>
      <p:ext uri="{BB962C8B-B14F-4D97-AF65-F5344CB8AC3E}">
        <p14:creationId xmlns:p14="http://schemas.microsoft.com/office/powerpoint/2010/main" val="3086384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8" y="2016690"/>
            <a:ext cx="10178322" cy="4600419"/>
          </a:xfrm>
        </p:spPr>
        <p:txBody>
          <a:bodyPr>
            <a:normAutofit/>
          </a:bodyPr>
          <a:lstStyle/>
          <a:p>
            <a:pPr marL="0" indent="0" algn="just">
              <a:buNone/>
            </a:pPr>
            <a:r>
              <a:rPr lang="ru-RU" sz="3200" b="1" dirty="0">
                <a:solidFill>
                  <a:schemeClr val="tx2">
                    <a:lumMod val="90000"/>
                    <a:lumOff val="10000"/>
                  </a:schemeClr>
                </a:solidFill>
              </a:rPr>
              <a:t>Скорость обучения</a:t>
            </a:r>
          </a:p>
          <a:p>
            <a:pPr marL="0" indent="0" algn="just">
              <a:buNone/>
            </a:pPr>
            <a:endParaRPr lang="ru-RU" sz="100" b="1" dirty="0">
              <a:solidFill>
                <a:schemeClr val="tx2">
                  <a:lumMod val="90000"/>
                  <a:lumOff val="10000"/>
                </a:schemeClr>
              </a:solidFill>
            </a:endParaRPr>
          </a:p>
          <a:p>
            <a:pPr marL="0" indent="0" algn="just">
              <a:buNone/>
            </a:pPr>
            <a:r>
              <a:rPr lang="ru-RU" sz="2400" i="1" dirty="0">
                <a:solidFill>
                  <a:schemeClr val="bg2">
                    <a:lumMod val="10000"/>
                  </a:schemeClr>
                </a:solidFill>
              </a:rPr>
              <a:t>Понятность системы</a:t>
            </a:r>
          </a:p>
          <a:p>
            <a:pPr algn="just"/>
            <a:r>
              <a:rPr lang="ru-RU" sz="2400" dirty="0">
                <a:solidFill>
                  <a:schemeClr val="bg2">
                    <a:lumMod val="10000"/>
                  </a:schemeClr>
                </a:solidFill>
              </a:rPr>
              <a:t>Впервые применительно к разработке интерфейса это понятие начал использовать </a:t>
            </a:r>
            <a:r>
              <a:rPr lang="ru-RU" sz="2400" dirty="0">
                <a:solidFill>
                  <a:schemeClr val="tx2">
                    <a:lumMod val="90000"/>
                    <a:lumOff val="10000"/>
                  </a:schemeClr>
                </a:solidFill>
              </a:rPr>
              <a:t>Дональд Норман</a:t>
            </a:r>
            <a:r>
              <a:rPr lang="ru-RU" sz="2400" dirty="0">
                <a:solidFill>
                  <a:schemeClr val="bg2">
                    <a:lumMod val="10000"/>
                  </a:schemeClr>
                </a:solidFill>
              </a:rPr>
              <a:t>. Аффорданс в этом случае является подсказкой или указателем на функциональность того или иного элемента </a:t>
            </a:r>
            <a:r>
              <a:rPr lang="ru-RU" sz="2400" dirty="0"/>
              <a:t>(стрелки выпадающего меню, выпуклая кнопка)</a:t>
            </a:r>
            <a:r>
              <a:rPr lang="ru-RU" sz="2400" dirty="0">
                <a:solidFill>
                  <a:schemeClr val="bg2">
                    <a:lumMod val="10000"/>
                  </a:schemeClr>
                </a:solidFill>
              </a:rPr>
              <a:t>. </a:t>
            </a:r>
          </a:p>
          <a:p>
            <a:pPr algn="just"/>
            <a:r>
              <a:rPr lang="ru-RU" sz="2400" dirty="0">
                <a:solidFill>
                  <a:schemeClr val="bg2">
                    <a:lumMod val="10000"/>
                  </a:schemeClr>
                </a:solidFill>
              </a:rPr>
              <a:t>Помимо таких явных аффордансов, существуют </a:t>
            </a:r>
            <a:r>
              <a:rPr lang="ru-RU" sz="2400" i="1" dirty="0">
                <a:solidFill>
                  <a:schemeClr val="tx2">
                    <a:lumMod val="90000"/>
                    <a:lumOff val="10000"/>
                  </a:schemeClr>
                </a:solidFill>
              </a:rPr>
              <a:t>скрытые</a:t>
            </a:r>
            <a:r>
              <a:rPr lang="ru-RU" sz="2400" dirty="0">
                <a:solidFill>
                  <a:schemeClr val="bg2">
                    <a:lumMod val="10000"/>
                  </a:schemeClr>
                </a:solidFill>
              </a:rPr>
              <a:t>, </a:t>
            </a:r>
            <a:r>
              <a:rPr lang="ru-RU" sz="2400" i="1" dirty="0">
                <a:solidFill>
                  <a:schemeClr val="tx2">
                    <a:lumMod val="90000"/>
                    <a:lumOff val="10000"/>
                  </a:schemeClr>
                </a:solidFill>
              </a:rPr>
              <a:t>метафорические</a:t>
            </a:r>
            <a:r>
              <a:rPr lang="ru-RU" sz="2400" dirty="0">
                <a:solidFill>
                  <a:schemeClr val="bg2">
                    <a:lumMod val="10000"/>
                  </a:schemeClr>
                </a:solidFill>
              </a:rPr>
              <a:t> и так называемые </a:t>
            </a:r>
            <a:r>
              <a:rPr lang="ru-RU" sz="2400" i="1" dirty="0">
                <a:solidFill>
                  <a:schemeClr val="tx2">
                    <a:lumMod val="90000"/>
                    <a:lumOff val="10000"/>
                  </a:schemeClr>
                </a:solidFill>
              </a:rPr>
              <a:t>негативные</a:t>
            </a:r>
            <a:r>
              <a:rPr lang="ru-RU" sz="2400" dirty="0">
                <a:solidFill>
                  <a:schemeClr val="bg2">
                    <a:lumMod val="10000"/>
                  </a:schemeClr>
                </a:solidFill>
              </a:rPr>
              <a:t> указатели, помогающие посетителям сориентироваться на сайте.</a:t>
            </a:r>
          </a:p>
          <a:p>
            <a:pPr marL="0" indent="0" algn="just">
              <a:buNone/>
            </a:pPr>
            <a:endParaRPr lang="ru-RU" sz="2400" dirty="0">
              <a:solidFill>
                <a:schemeClr val="bg2">
                  <a:lumMod val="10000"/>
                </a:schemeClr>
              </a:solidFill>
            </a:endParaRPr>
          </a:p>
          <a:p>
            <a:pPr marL="0" indent="0" algn="just">
              <a:buNone/>
            </a:pPr>
            <a:endParaRPr lang="ru-RU" sz="1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6730138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8" y="2016690"/>
            <a:ext cx="10178322" cy="4600419"/>
          </a:xfrm>
        </p:spPr>
        <p:txBody>
          <a:bodyPr>
            <a:normAutofit/>
          </a:bodyPr>
          <a:lstStyle/>
          <a:p>
            <a:pPr marL="0" indent="0" algn="just">
              <a:buNone/>
            </a:pPr>
            <a:r>
              <a:rPr lang="ru-RU" sz="3200" b="1" dirty="0">
                <a:solidFill>
                  <a:schemeClr val="tx2">
                    <a:lumMod val="90000"/>
                    <a:lumOff val="10000"/>
                  </a:schemeClr>
                </a:solidFill>
              </a:rPr>
              <a:t>Скорость обучения</a:t>
            </a:r>
          </a:p>
          <a:p>
            <a:pPr marL="0" indent="0" algn="just">
              <a:buNone/>
            </a:pPr>
            <a:endParaRPr lang="ru-RU" sz="100" b="1" dirty="0">
              <a:solidFill>
                <a:schemeClr val="tx2">
                  <a:lumMod val="90000"/>
                  <a:lumOff val="10000"/>
                </a:schemeClr>
              </a:solidFill>
            </a:endParaRPr>
          </a:p>
          <a:p>
            <a:pPr marL="0" indent="0" algn="just">
              <a:buNone/>
            </a:pPr>
            <a:r>
              <a:rPr lang="ru-RU" sz="2400" i="1" dirty="0">
                <a:solidFill>
                  <a:schemeClr val="bg2">
                    <a:lumMod val="10000"/>
                  </a:schemeClr>
                </a:solidFill>
              </a:rPr>
              <a:t>Понятность системы</a:t>
            </a:r>
          </a:p>
          <a:p>
            <a:pPr marL="0" indent="0" algn="just">
              <a:buNone/>
            </a:pPr>
            <a:r>
              <a:rPr lang="ru-RU" sz="2400" dirty="0">
                <a:solidFill>
                  <a:schemeClr val="bg2">
                    <a:lumMod val="10000"/>
                  </a:schemeClr>
                </a:solidFill>
              </a:rPr>
              <a:t>Виды аффордансов:</a:t>
            </a:r>
          </a:p>
          <a:p>
            <a:pPr algn="just"/>
            <a:r>
              <a:rPr lang="ru-RU" sz="2400" dirty="0">
                <a:solidFill>
                  <a:schemeClr val="bg2">
                    <a:lumMod val="10000"/>
                  </a:schemeClr>
                </a:solidFill>
              </a:rPr>
              <a:t>Явные / прямые</a:t>
            </a:r>
          </a:p>
          <a:p>
            <a:pPr algn="just"/>
            <a:r>
              <a:rPr lang="ru-RU" sz="2400" dirty="0">
                <a:solidFill>
                  <a:schemeClr val="bg2">
                    <a:lumMod val="10000"/>
                  </a:schemeClr>
                </a:solidFill>
              </a:rPr>
              <a:t>Метафорические / символические</a:t>
            </a:r>
          </a:p>
          <a:p>
            <a:pPr algn="just"/>
            <a:r>
              <a:rPr lang="ru-RU" sz="2400" dirty="0">
                <a:solidFill>
                  <a:schemeClr val="bg2">
                    <a:lumMod val="10000"/>
                  </a:schemeClr>
                </a:solidFill>
              </a:rPr>
              <a:t>Скрытые</a:t>
            </a:r>
          </a:p>
          <a:p>
            <a:pPr algn="just"/>
            <a:r>
              <a:rPr lang="ru-RU" sz="2400" dirty="0">
                <a:solidFill>
                  <a:schemeClr val="bg2">
                    <a:lumMod val="10000"/>
                  </a:schemeClr>
                </a:solidFill>
              </a:rPr>
              <a:t>Негативные</a:t>
            </a:r>
          </a:p>
          <a:p>
            <a:pPr algn="just"/>
            <a:endParaRPr lang="ru-RU" sz="2400" dirty="0">
              <a:solidFill>
                <a:schemeClr val="bg2">
                  <a:lumMod val="10000"/>
                </a:schemeClr>
              </a:solidFill>
            </a:endParaRPr>
          </a:p>
          <a:p>
            <a:pPr algn="just"/>
            <a:endParaRPr lang="ru-RU" sz="2400" dirty="0">
              <a:solidFill>
                <a:schemeClr val="bg2">
                  <a:lumMod val="10000"/>
                </a:schemeClr>
              </a:solidFill>
            </a:endParaRPr>
          </a:p>
          <a:p>
            <a:pPr marL="0" indent="0" algn="just">
              <a:buNone/>
            </a:pPr>
            <a:endParaRPr lang="ru-RU" sz="2400" dirty="0">
              <a:solidFill>
                <a:schemeClr val="bg2">
                  <a:lumMod val="10000"/>
                </a:schemeClr>
              </a:solidFill>
            </a:endParaRPr>
          </a:p>
          <a:p>
            <a:pPr marL="0" indent="0" algn="just">
              <a:buNone/>
            </a:pPr>
            <a:endParaRPr lang="ru-RU" sz="1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pic>
        <p:nvPicPr>
          <p:cNvPr id="5" name="Рисунок 4">
            <a:extLst>
              <a:ext uri="{FF2B5EF4-FFF2-40B4-BE49-F238E27FC236}">
                <a16:creationId xmlns:a16="http://schemas.microsoft.com/office/drawing/2014/main" id="{4B061AD3-EC2F-CE25-CFF3-9CCBCBFEF880}"/>
              </a:ext>
            </a:extLst>
          </p:cNvPr>
          <p:cNvPicPr>
            <a:picLocks noChangeAspect="1"/>
          </p:cNvPicPr>
          <p:nvPr/>
        </p:nvPicPr>
        <p:blipFill>
          <a:blip r:embed="rId3"/>
          <a:stretch>
            <a:fillRect/>
          </a:stretch>
        </p:blipFill>
        <p:spPr>
          <a:xfrm>
            <a:off x="6740903" y="3250847"/>
            <a:ext cx="4856246" cy="2353539"/>
          </a:xfrm>
          <a:prstGeom prst="rect">
            <a:avLst/>
          </a:prstGeom>
          <a:ln w="3175" cap="sq" cmpd="thickThin">
            <a:solidFill>
              <a:srgbClr val="000000"/>
            </a:solidFill>
            <a:prstDash val="solid"/>
            <a:miter lim="800000"/>
          </a:ln>
          <a:effectLst>
            <a:glow rad="63500">
              <a:schemeClr val="accent6">
                <a:satMod val="175000"/>
                <a:alpha val="40000"/>
              </a:schemeClr>
            </a:glow>
            <a:innerShdw blurRad="76200">
              <a:srgbClr val="000000"/>
            </a:innerShdw>
          </a:effectLst>
        </p:spPr>
      </p:pic>
    </p:spTree>
    <p:extLst>
      <p:ext uri="{BB962C8B-B14F-4D97-AF65-F5344CB8AC3E}">
        <p14:creationId xmlns:p14="http://schemas.microsoft.com/office/powerpoint/2010/main" val="29809095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8" y="2016690"/>
            <a:ext cx="10178322" cy="4600419"/>
          </a:xfrm>
        </p:spPr>
        <p:txBody>
          <a:bodyPr>
            <a:normAutofit/>
          </a:bodyPr>
          <a:lstStyle/>
          <a:p>
            <a:pPr marL="0" indent="0" algn="just">
              <a:buNone/>
            </a:pPr>
            <a:r>
              <a:rPr lang="ru-RU" sz="3200" b="1" dirty="0">
                <a:solidFill>
                  <a:schemeClr val="tx2">
                    <a:lumMod val="90000"/>
                    <a:lumOff val="10000"/>
                  </a:schemeClr>
                </a:solidFill>
              </a:rPr>
              <a:t>Скорость обучения</a:t>
            </a:r>
          </a:p>
          <a:p>
            <a:pPr marL="0" indent="0" algn="just">
              <a:buNone/>
            </a:pPr>
            <a:endParaRPr lang="ru-RU" sz="100" b="1" dirty="0">
              <a:solidFill>
                <a:schemeClr val="tx2">
                  <a:lumMod val="90000"/>
                  <a:lumOff val="10000"/>
                </a:schemeClr>
              </a:solidFill>
            </a:endParaRPr>
          </a:p>
          <a:p>
            <a:pPr marL="0" indent="0" algn="just">
              <a:buNone/>
            </a:pPr>
            <a:r>
              <a:rPr lang="ru-RU" sz="2400" i="1" dirty="0">
                <a:solidFill>
                  <a:schemeClr val="bg2">
                    <a:lumMod val="10000"/>
                  </a:schemeClr>
                </a:solidFill>
              </a:rPr>
              <a:t>Понятность системы</a:t>
            </a:r>
          </a:p>
          <a:p>
            <a:pPr marL="0" indent="0" algn="just">
              <a:buNone/>
            </a:pPr>
            <a:r>
              <a:rPr lang="ru-RU" sz="2400" i="1" dirty="0">
                <a:solidFill>
                  <a:schemeClr val="tx2">
                    <a:lumMod val="90000"/>
                    <a:lumOff val="10000"/>
                  </a:schemeClr>
                </a:solidFill>
              </a:rPr>
              <a:t>Явные / прямые </a:t>
            </a:r>
            <a:r>
              <a:rPr lang="ru-RU" sz="2400" dirty="0">
                <a:solidFill>
                  <a:schemeClr val="bg2">
                    <a:lumMod val="10000"/>
                  </a:schemeClr>
                </a:solidFill>
              </a:rPr>
              <a:t>указатели призваны показать, как посетитель сайта или пользователь приложения может совершить нужное ему (или продавцу) действие. </a:t>
            </a:r>
          </a:p>
          <a:p>
            <a:pPr marL="0" indent="0" algn="just">
              <a:buNone/>
            </a:pPr>
            <a:endParaRPr lang="ru-RU" sz="2400" dirty="0">
              <a:solidFill>
                <a:schemeClr val="bg2">
                  <a:lumMod val="10000"/>
                </a:schemeClr>
              </a:solidFill>
            </a:endParaRPr>
          </a:p>
          <a:p>
            <a:pPr marL="0" indent="0" algn="just">
              <a:buNone/>
            </a:pPr>
            <a:r>
              <a:rPr lang="ru-RU" sz="2400" dirty="0">
                <a:solidFill>
                  <a:schemeClr val="bg2">
                    <a:lumMod val="10000"/>
                  </a:schemeClr>
                </a:solidFill>
              </a:rPr>
              <a:t>«Выпуклые» кнопки с призывом к действию, текст в полях для заполнения форм, подписи визуальных элементов – </a:t>
            </a:r>
            <a:r>
              <a:rPr lang="ru-RU" sz="2400" dirty="0">
                <a:solidFill>
                  <a:schemeClr val="tx2">
                    <a:lumMod val="90000"/>
                    <a:lumOff val="10000"/>
                  </a:schemeClr>
                </a:solidFill>
              </a:rPr>
              <a:t>явные аффордансы</a:t>
            </a:r>
            <a:r>
              <a:rPr lang="ru-RU" sz="2400" dirty="0">
                <a:solidFill>
                  <a:schemeClr val="bg2">
                    <a:lumMod val="10000"/>
                  </a:schemeClr>
                </a:solidFill>
              </a:rPr>
              <a:t>, точно и недвусмысленно указывающие на назначение элемента.</a:t>
            </a:r>
          </a:p>
          <a:p>
            <a:pPr algn="just"/>
            <a:endParaRPr lang="ru-RU" sz="2400" dirty="0">
              <a:solidFill>
                <a:schemeClr val="bg2">
                  <a:lumMod val="10000"/>
                </a:schemeClr>
              </a:solidFill>
            </a:endParaRPr>
          </a:p>
          <a:p>
            <a:pPr marL="0" indent="0" algn="just">
              <a:buNone/>
            </a:pPr>
            <a:endParaRPr lang="ru-RU" sz="2400" dirty="0">
              <a:solidFill>
                <a:schemeClr val="bg2">
                  <a:lumMod val="10000"/>
                </a:schemeClr>
              </a:solidFill>
            </a:endParaRPr>
          </a:p>
          <a:p>
            <a:pPr marL="0" indent="0" algn="just">
              <a:buNone/>
            </a:pPr>
            <a:endParaRPr lang="ru-RU" sz="1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20985215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8" y="2016690"/>
            <a:ext cx="10178322" cy="4600419"/>
          </a:xfrm>
        </p:spPr>
        <p:txBody>
          <a:bodyPr>
            <a:normAutofit/>
          </a:bodyPr>
          <a:lstStyle/>
          <a:p>
            <a:pPr marL="0" indent="0" algn="just">
              <a:buNone/>
            </a:pPr>
            <a:r>
              <a:rPr lang="ru-RU" sz="3200" b="1" dirty="0">
                <a:solidFill>
                  <a:schemeClr val="tx2">
                    <a:lumMod val="90000"/>
                    <a:lumOff val="10000"/>
                  </a:schemeClr>
                </a:solidFill>
              </a:rPr>
              <a:t>Скорость обучения</a:t>
            </a:r>
          </a:p>
          <a:p>
            <a:pPr marL="0" indent="0" algn="just">
              <a:buNone/>
            </a:pPr>
            <a:endParaRPr lang="ru-RU" sz="100" b="1" dirty="0">
              <a:solidFill>
                <a:schemeClr val="tx2">
                  <a:lumMod val="90000"/>
                  <a:lumOff val="10000"/>
                </a:schemeClr>
              </a:solidFill>
            </a:endParaRPr>
          </a:p>
          <a:p>
            <a:pPr marL="0" indent="0" algn="just">
              <a:buNone/>
            </a:pPr>
            <a:r>
              <a:rPr lang="ru-RU" sz="2400" i="1" dirty="0">
                <a:solidFill>
                  <a:schemeClr val="bg2">
                    <a:lumMod val="10000"/>
                  </a:schemeClr>
                </a:solidFill>
              </a:rPr>
              <a:t>Понятность системы</a:t>
            </a:r>
          </a:p>
          <a:p>
            <a:pPr marL="0" indent="0" algn="just">
              <a:buNone/>
            </a:pPr>
            <a:r>
              <a:rPr lang="ru-RU" sz="2400" i="1" dirty="0">
                <a:solidFill>
                  <a:schemeClr val="tx2">
                    <a:lumMod val="90000"/>
                    <a:lumOff val="10000"/>
                  </a:schemeClr>
                </a:solidFill>
              </a:rPr>
              <a:t>Метафорические / символические </a:t>
            </a:r>
            <a:r>
              <a:rPr lang="ru-RU" sz="2400" dirty="0">
                <a:solidFill>
                  <a:schemeClr val="bg2">
                    <a:lumMod val="10000"/>
                  </a:schemeClr>
                </a:solidFill>
              </a:rPr>
              <a:t>указатели – пользователь поймет назначение элемента, потому что видел его раньше на других сайтах. </a:t>
            </a:r>
          </a:p>
          <a:p>
            <a:pPr marL="0" indent="0" algn="just">
              <a:buNone/>
            </a:pPr>
            <a:endParaRPr lang="ru-RU" sz="2400" dirty="0">
              <a:solidFill>
                <a:schemeClr val="bg2">
                  <a:lumMod val="10000"/>
                </a:schemeClr>
              </a:solidFill>
            </a:endParaRPr>
          </a:p>
          <a:p>
            <a:pPr marL="0" indent="0" algn="just">
              <a:buNone/>
            </a:pPr>
            <a:r>
              <a:rPr lang="ru-RU" sz="2400" dirty="0">
                <a:solidFill>
                  <a:schemeClr val="bg2">
                    <a:lumMod val="10000"/>
                  </a:schemeClr>
                </a:solidFill>
              </a:rPr>
              <a:t> </a:t>
            </a:r>
            <a:r>
              <a:rPr lang="ru-RU" sz="2400" dirty="0">
                <a:solidFill>
                  <a:schemeClr val="tx2">
                    <a:lumMod val="90000"/>
                    <a:lumOff val="10000"/>
                  </a:schemeClr>
                </a:solidFill>
              </a:rPr>
              <a:t>Чаще всего такие аффордансы используются для оформления главного меню и ссылок на типовые разделы сайта.</a:t>
            </a:r>
          </a:p>
          <a:p>
            <a:pPr marL="0" indent="0" algn="just">
              <a:buNone/>
            </a:pPr>
            <a:endParaRPr lang="ru-RU" sz="2400" dirty="0">
              <a:solidFill>
                <a:schemeClr val="bg2">
                  <a:lumMod val="10000"/>
                </a:schemeClr>
              </a:solidFill>
            </a:endParaRPr>
          </a:p>
          <a:p>
            <a:pPr marL="0" indent="0" algn="just">
              <a:buNone/>
            </a:pPr>
            <a:endParaRPr lang="ru-RU" sz="1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pic>
        <p:nvPicPr>
          <p:cNvPr id="3074" name="Picture 2" descr="Picture background">
            <a:extLst>
              <a:ext uri="{FF2B5EF4-FFF2-40B4-BE49-F238E27FC236}">
                <a16:creationId xmlns:a16="http://schemas.microsoft.com/office/drawing/2014/main" id="{470340E1-8070-7ED5-A7CD-23BB395444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6470" y="5264380"/>
            <a:ext cx="1253852" cy="1211235"/>
          </a:xfrm>
          <a:prstGeom prst="rect">
            <a:avLst/>
          </a:prstGeom>
          <a:ln w="3175" cap="sq" cmpd="thickThin">
            <a:solidFill>
              <a:srgbClr val="000000"/>
            </a:solidFill>
            <a:prstDash val="solid"/>
            <a:miter lim="800000"/>
          </a:ln>
          <a:effectLst>
            <a:glow rad="63500">
              <a:schemeClr val="accent6">
                <a:satMod val="175000"/>
                <a:alpha val="40000"/>
              </a:schemeClr>
            </a:glow>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20578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8" y="2016690"/>
            <a:ext cx="10178322" cy="4600419"/>
          </a:xfrm>
        </p:spPr>
        <p:txBody>
          <a:bodyPr>
            <a:normAutofit/>
          </a:bodyPr>
          <a:lstStyle/>
          <a:p>
            <a:pPr marL="0" indent="0" algn="just">
              <a:buNone/>
            </a:pPr>
            <a:r>
              <a:rPr lang="ru-RU" sz="3200" b="1" dirty="0">
                <a:solidFill>
                  <a:schemeClr val="tx2">
                    <a:lumMod val="90000"/>
                    <a:lumOff val="10000"/>
                  </a:schemeClr>
                </a:solidFill>
              </a:rPr>
              <a:t>Скорость обучения</a:t>
            </a:r>
          </a:p>
          <a:p>
            <a:pPr marL="0" indent="0" algn="just">
              <a:buNone/>
            </a:pPr>
            <a:endParaRPr lang="ru-RU" sz="100" b="1" dirty="0">
              <a:solidFill>
                <a:schemeClr val="tx2">
                  <a:lumMod val="90000"/>
                  <a:lumOff val="10000"/>
                </a:schemeClr>
              </a:solidFill>
            </a:endParaRPr>
          </a:p>
          <a:p>
            <a:pPr marL="0" indent="0" algn="just">
              <a:buNone/>
            </a:pPr>
            <a:r>
              <a:rPr lang="ru-RU" sz="2400" i="1" dirty="0">
                <a:solidFill>
                  <a:schemeClr val="bg2">
                    <a:lumMod val="10000"/>
                  </a:schemeClr>
                </a:solidFill>
              </a:rPr>
              <a:t>Понятность системы</a:t>
            </a:r>
          </a:p>
          <a:p>
            <a:pPr marL="0" indent="0" algn="just">
              <a:buNone/>
            </a:pPr>
            <a:r>
              <a:rPr lang="ru-RU" sz="2400" i="1" dirty="0">
                <a:solidFill>
                  <a:schemeClr val="tx2">
                    <a:lumMod val="90000"/>
                    <a:lumOff val="10000"/>
                  </a:schemeClr>
                </a:solidFill>
              </a:rPr>
              <a:t>Скрытые </a:t>
            </a:r>
            <a:r>
              <a:rPr lang="ru-RU" sz="2400" dirty="0">
                <a:solidFill>
                  <a:schemeClr val="bg2">
                    <a:lumMod val="10000"/>
                  </a:schemeClr>
                </a:solidFill>
              </a:rPr>
              <a:t>указатели – подсказки или элементы навигации появляются после совершения какого-либо действия, чаще всего – наведения курсора.</a:t>
            </a:r>
          </a:p>
          <a:p>
            <a:pPr marL="0" indent="0" algn="just">
              <a:buNone/>
            </a:pPr>
            <a:r>
              <a:rPr lang="ru-RU" sz="2400" dirty="0">
                <a:solidFill>
                  <a:schemeClr val="bg2">
                    <a:lumMod val="10000"/>
                  </a:schemeClr>
                </a:solidFill>
              </a:rPr>
              <a:t> </a:t>
            </a:r>
          </a:p>
          <a:p>
            <a:pPr marL="0" indent="0" algn="just">
              <a:buNone/>
            </a:pPr>
            <a:r>
              <a:rPr lang="ru-RU" sz="2400" dirty="0">
                <a:solidFill>
                  <a:schemeClr val="tx2">
                    <a:lumMod val="90000"/>
                    <a:lumOff val="10000"/>
                  </a:schemeClr>
                </a:solidFill>
              </a:rPr>
              <a:t>Использовать такие аффордансы следует осторожно: </a:t>
            </a:r>
            <a:r>
              <a:rPr lang="ru-RU" sz="2400" dirty="0">
                <a:solidFill>
                  <a:schemeClr val="bg2">
                    <a:lumMod val="10000"/>
                  </a:schemeClr>
                </a:solidFill>
              </a:rPr>
              <a:t>если действие, вызывающее появление указателя, совершается редко, пользователи могут так и не узнать о скрытых возможностях.</a:t>
            </a:r>
          </a:p>
          <a:p>
            <a:pPr marL="0" indent="0" algn="just">
              <a:buNone/>
            </a:pPr>
            <a:endParaRPr lang="ru-RU" sz="100" dirty="0">
              <a:solidFill>
                <a:schemeClr val="bg2">
                  <a:lumMod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15374835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8" y="2016690"/>
            <a:ext cx="10178322" cy="4600419"/>
          </a:xfrm>
        </p:spPr>
        <p:txBody>
          <a:bodyPr>
            <a:normAutofit/>
          </a:bodyPr>
          <a:lstStyle/>
          <a:p>
            <a:pPr marL="0" indent="0" algn="just">
              <a:buNone/>
            </a:pPr>
            <a:r>
              <a:rPr lang="ru-RU" sz="3200" b="1" dirty="0">
                <a:solidFill>
                  <a:schemeClr val="tx2">
                    <a:lumMod val="90000"/>
                    <a:lumOff val="10000"/>
                  </a:schemeClr>
                </a:solidFill>
              </a:rPr>
              <a:t>Скорость обучения</a:t>
            </a:r>
          </a:p>
          <a:p>
            <a:pPr marL="0" indent="0" algn="just">
              <a:buNone/>
            </a:pPr>
            <a:endParaRPr lang="ru-RU" sz="100" b="1" dirty="0">
              <a:solidFill>
                <a:schemeClr val="tx2">
                  <a:lumMod val="90000"/>
                  <a:lumOff val="10000"/>
                </a:schemeClr>
              </a:solidFill>
            </a:endParaRPr>
          </a:p>
          <a:p>
            <a:pPr marL="0" indent="0" algn="just">
              <a:buNone/>
            </a:pPr>
            <a:r>
              <a:rPr lang="ru-RU" sz="2400" i="1" dirty="0">
                <a:solidFill>
                  <a:schemeClr val="bg2">
                    <a:lumMod val="10000"/>
                  </a:schemeClr>
                </a:solidFill>
              </a:rPr>
              <a:t>Понятность системы</a:t>
            </a:r>
          </a:p>
          <a:p>
            <a:pPr marL="0" indent="0" algn="just">
              <a:buNone/>
            </a:pPr>
            <a:r>
              <a:rPr lang="ru-RU" sz="2400" i="1" dirty="0">
                <a:solidFill>
                  <a:schemeClr val="tx2">
                    <a:lumMod val="90000"/>
                    <a:lumOff val="10000"/>
                  </a:schemeClr>
                </a:solidFill>
              </a:rPr>
              <a:t>Негативные </a:t>
            </a:r>
            <a:r>
              <a:rPr lang="ru-RU" sz="2400" dirty="0">
                <a:solidFill>
                  <a:schemeClr val="bg2">
                    <a:lumMod val="10000"/>
                  </a:schemeClr>
                </a:solidFill>
              </a:rPr>
              <a:t>указатели – показать, что пункт меню или другой элемент в настоящее время неактивен. </a:t>
            </a:r>
          </a:p>
          <a:p>
            <a:pPr marL="0" indent="0" algn="just">
              <a:buNone/>
            </a:pPr>
            <a:endParaRPr lang="ru-RU" sz="2400" dirty="0">
              <a:solidFill>
                <a:schemeClr val="bg2">
                  <a:lumMod val="10000"/>
                </a:schemeClr>
              </a:solidFill>
            </a:endParaRPr>
          </a:p>
          <a:p>
            <a:pPr marL="0" indent="0" algn="just">
              <a:buNone/>
            </a:pPr>
            <a:r>
              <a:rPr lang="ru-RU" sz="2400" dirty="0">
                <a:solidFill>
                  <a:schemeClr val="bg2">
                    <a:lumMod val="10000"/>
                  </a:schemeClr>
                </a:solidFill>
              </a:rPr>
              <a:t>Такое оформление достаточно </a:t>
            </a:r>
            <a:r>
              <a:rPr lang="ru-RU" sz="2400" dirty="0">
                <a:solidFill>
                  <a:schemeClr val="tx2">
                    <a:lumMod val="90000"/>
                    <a:lumOff val="10000"/>
                  </a:schemeClr>
                </a:solidFill>
              </a:rPr>
              <a:t>распространено</a:t>
            </a:r>
            <a:r>
              <a:rPr lang="ru-RU" sz="2400" dirty="0">
                <a:solidFill>
                  <a:schemeClr val="bg2">
                    <a:lumMod val="10000"/>
                  </a:schemeClr>
                </a:solidFill>
              </a:rPr>
              <a:t> и </a:t>
            </a:r>
            <a:r>
              <a:rPr lang="ru-RU" sz="2400" dirty="0">
                <a:solidFill>
                  <a:schemeClr val="tx2">
                    <a:lumMod val="90000"/>
                    <a:lumOff val="10000"/>
                  </a:schemeClr>
                </a:solidFill>
              </a:rPr>
              <a:t>привычно</a:t>
            </a:r>
            <a:r>
              <a:rPr lang="ru-RU" sz="2400" dirty="0">
                <a:solidFill>
                  <a:schemeClr val="bg2">
                    <a:lumMod val="10000"/>
                  </a:schemeClr>
                </a:solidFill>
              </a:rPr>
              <a:t> для большинства пользователей. Если же человек впервые видит подобный элемент, контраст с другими кнопками и полями должен выступить как дополнительная подсказка.</a:t>
            </a: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41387730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8" y="2016690"/>
            <a:ext cx="10178322" cy="4600419"/>
          </a:xfrm>
        </p:spPr>
        <p:txBody>
          <a:bodyPr>
            <a:normAutofit/>
          </a:bodyPr>
          <a:lstStyle/>
          <a:p>
            <a:pPr marL="0" indent="0" algn="just">
              <a:buNone/>
            </a:pPr>
            <a:r>
              <a:rPr lang="ru-RU" sz="3200" b="1" dirty="0">
                <a:solidFill>
                  <a:schemeClr val="tx2">
                    <a:lumMod val="90000"/>
                    <a:lumOff val="10000"/>
                  </a:schemeClr>
                </a:solidFill>
              </a:rPr>
              <a:t>Скорость обучения</a:t>
            </a:r>
          </a:p>
          <a:p>
            <a:pPr marL="0" indent="0" algn="just">
              <a:buNone/>
            </a:pPr>
            <a:endParaRPr lang="ru-RU" sz="100" b="1" dirty="0">
              <a:solidFill>
                <a:schemeClr val="tx2">
                  <a:lumMod val="90000"/>
                  <a:lumOff val="10000"/>
                </a:schemeClr>
              </a:solidFill>
            </a:endParaRPr>
          </a:p>
          <a:p>
            <a:pPr marL="0" indent="0" algn="just">
              <a:buNone/>
            </a:pPr>
            <a:r>
              <a:rPr lang="ru-RU" sz="2400" i="1" dirty="0">
                <a:solidFill>
                  <a:schemeClr val="bg2">
                    <a:lumMod val="10000"/>
                  </a:schemeClr>
                </a:solidFill>
              </a:rPr>
              <a:t>Понятность системы</a:t>
            </a:r>
          </a:p>
          <a:p>
            <a:pPr algn="just"/>
            <a:r>
              <a:rPr lang="ru-RU" sz="2400" dirty="0">
                <a:solidFill>
                  <a:schemeClr val="bg2">
                    <a:lumMod val="10000"/>
                  </a:schemeClr>
                </a:solidFill>
              </a:rPr>
              <a:t>При использовании аффордансов важно не допускать двоякого толкования и учитывать опыт целевой аудитории.</a:t>
            </a:r>
          </a:p>
          <a:p>
            <a:pPr algn="just"/>
            <a:r>
              <a:rPr lang="ru-RU" sz="2400" dirty="0">
                <a:solidFill>
                  <a:schemeClr val="bg2">
                    <a:lumMod val="10000"/>
                  </a:schemeClr>
                </a:solidFill>
              </a:rPr>
              <a:t>Нужно учитывать, как тот или иной символ воспринимается на конкретном сайте.</a:t>
            </a:r>
          </a:p>
          <a:p>
            <a:pPr algn="just"/>
            <a:r>
              <a:rPr lang="ru-RU" sz="2400" dirty="0">
                <a:solidFill>
                  <a:schemeClr val="bg2">
                    <a:lumMod val="10000"/>
                  </a:schemeClr>
                </a:solidFill>
              </a:rPr>
              <a:t>Нужно проверять, правильно ли посетители сайта трактуют подобные элементы.</a:t>
            </a: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39587405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8" y="2016690"/>
            <a:ext cx="10178322" cy="4600419"/>
          </a:xfrm>
        </p:spPr>
        <p:txBody>
          <a:bodyPr>
            <a:normAutofit/>
          </a:bodyPr>
          <a:lstStyle/>
          <a:p>
            <a:pPr marL="0" indent="0" algn="just">
              <a:buNone/>
            </a:pPr>
            <a:r>
              <a:rPr lang="ru-RU" sz="3200" b="1" dirty="0">
                <a:solidFill>
                  <a:schemeClr val="tx2">
                    <a:lumMod val="90000"/>
                    <a:lumOff val="10000"/>
                  </a:schemeClr>
                </a:solidFill>
              </a:rPr>
              <a:t>Субъективное удовлетворение пользователей</a:t>
            </a:r>
          </a:p>
          <a:p>
            <a:pPr marL="0" indent="0" algn="just">
              <a:buNone/>
            </a:pPr>
            <a:endParaRPr lang="ru-RU" sz="100" b="1" dirty="0">
              <a:solidFill>
                <a:schemeClr val="tx2">
                  <a:lumMod val="90000"/>
                  <a:lumOff val="10000"/>
                </a:schemeClr>
              </a:solidFill>
            </a:endParaRPr>
          </a:p>
          <a:p>
            <a:pPr marL="0" indent="0" algn="just">
              <a:buNone/>
            </a:pPr>
            <a:r>
              <a:rPr lang="ru-RU" sz="2400" dirty="0">
                <a:solidFill>
                  <a:schemeClr val="bg2">
                    <a:lumMod val="10000"/>
                  </a:schemeClr>
                </a:solidFill>
              </a:rPr>
              <a:t>На субъективное удовлетворение пользователей влияют:</a:t>
            </a:r>
          </a:p>
          <a:p>
            <a:pPr algn="just"/>
            <a:r>
              <a:rPr lang="ru-RU" sz="2400" dirty="0">
                <a:solidFill>
                  <a:schemeClr val="bg2">
                    <a:lumMod val="10000"/>
                  </a:schemeClr>
                </a:solidFill>
              </a:rPr>
              <a:t>Субъективное ощущение эстетики</a:t>
            </a:r>
          </a:p>
          <a:p>
            <a:pPr algn="just"/>
            <a:r>
              <a:rPr lang="ru-RU" sz="2400" dirty="0">
                <a:solidFill>
                  <a:schemeClr val="bg2">
                    <a:lumMod val="10000"/>
                  </a:schemeClr>
                </a:solidFill>
              </a:rPr>
              <a:t>Субъективное ощущение времени</a:t>
            </a:r>
          </a:p>
          <a:p>
            <a:pPr algn="just"/>
            <a:r>
              <a:rPr lang="ru-RU" sz="2400" dirty="0">
                <a:solidFill>
                  <a:schemeClr val="bg2">
                    <a:lumMod val="10000"/>
                  </a:schemeClr>
                </a:solidFill>
              </a:rPr>
              <a:t>Субъективное ощущение психологического напряжения</a:t>
            </a:r>
          </a:p>
          <a:p>
            <a:pPr algn="just"/>
            <a:r>
              <a:rPr lang="ru-RU" sz="2400" dirty="0">
                <a:solidFill>
                  <a:schemeClr val="bg2">
                    <a:lumMod val="10000"/>
                  </a:schemeClr>
                </a:solidFill>
              </a:rPr>
              <a:t>Субъективное ощущение собственной глупости</a:t>
            </a:r>
          </a:p>
          <a:p>
            <a:pPr algn="just"/>
            <a:r>
              <a:rPr lang="ru-RU" sz="2400" dirty="0">
                <a:solidFill>
                  <a:schemeClr val="bg2">
                    <a:lumMod val="10000"/>
                  </a:schemeClr>
                </a:solidFill>
              </a:rPr>
              <a:t>Самовыражение</a:t>
            </a:r>
          </a:p>
          <a:p>
            <a:pPr marL="0" indent="0" algn="just">
              <a:buNone/>
            </a:pPr>
            <a:endParaRPr lang="ru-RU" sz="2400" dirty="0">
              <a:solidFill>
                <a:schemeClr val="bg2">
                  <a:lumMod val="10000"/>
                </a:schemeClr>
              </a:solidFill>
            </a:endParaRPr>
          </a:p>
          <a:p>
            <a:pPr marL="0" indent="0" algn="just">
              <a:buNone/>
            </a:pPr>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29781192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9" y="2016690"/>
            <a:ext cx="6840270" cy="4600419"/>
          </a:xfrm>
        </p:spPr>
        <p:txBody>
          <a:bodyPr>
            <a:normAutofit/>
          </a:bodyPr>
          <a:lstStyle/>
          <a:p>
            <a:pPr marL="0" indent="0" algn="just">
              <a:buNone/>
            </a:pPr>
            <a:r>
              <a:rPr lang="ru-RU" sz="3200" b="1" dirty="0">
                <a:solidFill>
                  <a:schemeClr val="tx2">
                    <a:lumMod val="90000"/>
                    <a:lumOff val="10000"/>
                  </a:schemeClr>
                </a:solidFill>
              </a:rPr>
              <a:t>Субъективное</a:t>
            </a:r>
            <a:r>
              <a:rPr lang="ru-RU" sz="3200" b="1" dirty="0">
                <a:solidFill>
                  <a:schemeClr val="bg1"/>
                </a:solidFill>
              </a:rPr>
              <a:t>аа</a:t>
            </a:r>
            <a:r>
              <a:rPr lang="ru-RU" sz="3200" b="1" dirty="0">
                <a:solidFill>
                  <a:schemeClr val="tx2">
                    <a:lumMod val="90000"/>
                    <a:lumOff val="10000"/>
                  </a:schemeClr>
                </a:solidFill>
              </a:rPr>
              <a:t>удовлетворение пользователей</a:t>
            </a:r>
          </a:p>
          <a:p>
            <a:pPr marL="0" indent="0" algn="just">
              <a:buNone/>
            </a:pPr>
            <a:endParaRPr lang="ru-RU" sz="100" b="1" dirty="0">
              <a:solidFill>
                <a:schemeClr val="tx2">
                  <a:lumMod val="90000"/>
                  <a:lumOff val="10000"/>
                </a:schemeClr>
              </a:solidFill>
            </a:endParaRPr>
          </a:p>
          <a:p>
            <a:pPr marL="0" indent="0" algn="just">
              <a:buNone/>
            </a:pPr>
            <a:r>
              <a:rPr lang="ru-RU" sz="2400" dirty="0">
                <a:solidFill>
                  <a:schemeClr val="bg2">
                    <a:lumMod val="10000"/>
                  </a:schemeClr>
                </a:solidFill>
              </a:rPr>
              <a:t>Субъективное ощущение эстетики</a:t>
            </a:r>
          </a:p>
          <a:p>
            <a:pPr marL="0" indent="0" algn="just">
              <a:buNone/>
            </a:pPr>
            <a:endParaRPr lang="ru-RU" sz="100" dirty="0">
              <a:solidFill>
                <a:schemeClr val="bg2">
                  <a:lumMod val="10000"/>
                </a:schemeClr>
              </a:solidFill>
            </a:endParaRPr>
          </a:p>
          <a:p>
            <a:pPr algn="just"/>
            <a:r>
              <a:rPr lang="ru-RU" sz="2400" dirty="0">
                <a:solidFill>
                  <a:schemeClr val="bg2">
                    <a:lumMod val="10000"/>
                  </a:schemeClr>
                </a:solidFill>
              </a:rPr>
              <a:t>Значительно легче и приятнее пользоваться эстетически привлекательными объектами</a:t>
            </a:r>
          </a:p>
          <a:p>
            <a:pPr algn="just"/>
            <a:r>
              <a:rPr lang="ru-RU" sz="2400" dirty="0">
                <a:solidFill>
                  <a:schemeClr val="bg2">
                    <a:lumMod val="10000"/>
                  </a:schemeClr>
                </a:solidFill>
              </a:rPr>
              <a:t>Программисты заботятся о функциональности приложения, однако внешний вид его может влиять на подсознательное поведение пользователей при работе с приложением.</a:t>
            </a:r>
          </a:p>
          <a:p>
            <a:pPr marL="0" indent="0" algn="just">
              <a:buNone/>
            </a:pPr>
            <a:endParaRPr lang="ru-RU" sz="2400" dirty="0">
              <a:solidFill>
                <a:schemeClr val="bg2">
                  <a:lumMod val="10000"/>
                </a:schemeClr>
              </a:solidFill>
            </a:endParaRPr>
          </a:p>
          <a:p>
            <a:pPr marL="0" indent="0" algn="just">
              <a:buNone/>
            </a:pPr>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a:p>
            <a:pPr marL="0" indent="0" algn="just">
              <a:buNone/>
            </a:pPr>
            <a:endParaRPr lang="ru-RU" sz="100" b="1" dirty="0">
              <a:solidFill>
                <a:schemeClr val="tx2">
                  <a:lumMod val="90000"/>
                  <a:lumOff val="10000"/>
                </a:schemeClr>
              </a:solidFill>
            </a:endParaRPr>
          </a:p>
        </p:txBody>
      </p:sp>
      <p:pic>
        <p:nvPicPr>
          <p:cNvPr id="5122" name="Picture 2" descr="Picture background">
            <a:extLst>
              <a:ext uri="{FF2B5EF4-FFF2-40B4-BE49-F238E27FC236}">
                <a16:creationId xmlns:a16="http://schemas.microsoft.com/office/drawing/2014/main" id="{1FA9D351-793C-05CA-C048-8BF68B6999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8445909" y="2592211"/>
            <a:ext cx="3194664" cy="3449375"/>
          </a:xfrm>
          <a:prstGeom prst="rect">
            <a:avLst/>
          </a:prstGeom>
          <a:ln w="3175" cap="sq" cmpd="thickThin">
            <a:solidFill>
              <a:srgbClr val="000000"/>
            </a:solidFill>
            <a:prstDash val="solid"/>
            <a:miter lim="800000"/>
          </a:ln>
          <a:effectLst>
            <a:glow rad="63500">
              <a:schemeClr val="accent6">
                <a:satMod val="175000"/>
                <a:alpha val="40000"/>
              </a:schemeClr>
            </a:glow>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15755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9" y="2016690"/>
            <a:ext cx="10178322" cy="4600419"/>
          </a:xfrm>
        </p:spPr>
        <p:txBody>
          <a:bodyPr>
            <a:normAutofit/>
          </a:bodyPr>
          <a:lstStyle/>
          <a:p>
            <a:pPr marL="0" indent="0" algn="just">
              <a:buNone/>
            </a:pPr>
            <a:r>
              <a:rPr lang="ru-RU" sz="3200" b="1" dirty="0">
                <a:solidFill>
                  <a:schemeClr val="tx2">
                    <a:lumMod val="90000"/>
                    <a:lumOff val="10000"/>
                  </a:schemeClr>
                </a:solidFill>
              </a:rPr>
              <a:t>Субъективное удовлетворение пользователей</a:t>
            </a:r>
          </a:p>
          <a:p>
            <a:pPr marL="0" indent="0" algn="just">
              <a:buNone/>
            </a:pPr>
            <a:endParaRPr lang="ru-RU" sz="100" b="1" dirty="0">
              <a:solidFill>
                <a:schemeClr val="tx2">
                  <a:lumMod val="90000"/>
                  <a:lumOff val="10000"/>
                </a:schemeClr>
              </a:solidFill>
            </a:endParaRPr>
          </a:p>
          <a:p>
            <a:pPr marL="0" indent="0" algn="just">
              <a:buNone/>
            </a:pPr>
            <a:r>
              <a:rPr lang="ru-RU" sz="2400" dirty="0">
                <a:solidFill>
                  <a:schemeClr val="bg2">
                    <a:lumMod val="10000"/>
                  </a:schemeClr>
                </a:solidFill>
              </a:rPr>
              <a:t>Субъективное ощущение эстетики</a:t>
            </a:r>
          </a:p>
          <a:p>
            <a:pPr marL="0" indent="0" algn="just">
              <a:buNone/>
            </a:pPr>
            <a:endParaRPr lang="ru-RU" sz="100" dirty="0">
              <a:solidFill>
                <a:schemeClr val="bg2">
                  <a:lumMod val="10000"/>
                </a:schemeClr>
              </a:solidFill>
            </a:endParaRPr>
          </a:p>
          <a:p>
            <a:pPr algn="just"/>
            <a:r>
              <a:rPr lang="ru-RU" sz="2400" dirty="0">
                <a:solidFill>
                  <a:schemeClr val="bg2">
                    <a:lumMod val="10000"/>
                  </a:schemeClr>
                </a:solidFill>
              </a:rPr>
              <a:t>Если приложение, решая серьезные задачи, выглядит навязчивым и легкомысленным, то пользователи могут подвергнуть сомнению его надежность.</a:t>
            </a:r>
          </a:p>
          <a:p>
            <a:pPr algn="just"/>
            <a:r>
              <a:rPr lang="ru-RU" sz="2400" dirty="0">
                <a:solidFill>
                  <a:schemeClr val="bg2">
                    <a:lumMod val="10000"/>
                  </a:schemeClr>
                </a:solidFill>
              </a:rPr>
              <a:t>В приложениях, таких как игра, пользователи ожидают увидеть красочный внешний вид, который обещает получение удовольствия и радости от игры.</a:t>
            </a:r>
          </a:p>
          <a:p>
            <a:pPr marL="0" indent="0" algn="just">
              <a:buNone/>
            </a:pPr>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5668868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9" y="2016690"/>
            <a:ext cx="10178322" cy="4600419"/>
          </a:xfrm>
        </p:spPr>
        <p:txBody>
          <a:bodyPr>
            <a:normAutofit lnSpcReduction="10000"/>
          </a:bodyPr>
          <a:lstStyle/>
          <a:p>
            <a:pPr marL="0" indent="0" algn="just">
              <a:buNone/>
            </a:pPr>
            <a:r>
              <a:rPr lang="ru-RU" sz="3200" b="1" dirty="0">
                <a:solidFill>
                  <a:schemeClr val="tx2">
                    <a:lumMod val="90000"/>
                    <a:lumOff val="10000"/>
                  </a:schemeClr>
                </a:solidFill>
              </a:rPr>
              <a:t>Субъективное удовлетворение пользователей</a:t>
            </a:r>
          </a:p>
          <a:p>
            <a:pPr marL="0" indent="0" algn="just">
              <a:buNone/>
            </a:pPr>
            <a:endParaRPr lang="ru-RU" sz="100" b="1" dirty="0">
              <a:solidFill>
                <a:schemeClr val="tx2">
                  <a:lumMod val="90000"/>
                  <a:lumOff val="10000"/>
                </a:schemeClr>
              </a:solidFill>
            </a:endParaRPr>
          </a:p>
          <a:p>
            <a:pPr marL="0" indent="0" algn="just">
              <a:buNone/>
            </a:pPr>
            <a:r>
              <a:rPr lang="ru-RU" sz="2400" dirty="0">
                <a:solidFill>
                  <a:schemeClr val="bg2">
                    <a:lumMod val="10000"/>
                  </a:schemeClr>
                </a:solidFill>
              </a:rPr>
              <a:t>Субъективное ощущение эстетики</a:t>
            </a:r>
          </a:p>
          <a:p>
            <a:pPr marL="0" indent="0" algn="just">
              <a:buNone/>
            </a:pPr>
            <a:endParaRPr lang="ru-RU" sz="100" dirty="0">
              <a:solidFill>
                <a:schemeClr val="bg2">
                  <a:lumMod val="10000"/>
                </a:schemeClr>
              </a:solidFill>
            </a:endParaRPr>
          </a:p>
          <a:p>
            <a:pPr marL="0" indent="0" algn="just">
              <a:buNone/>
            </a:pPr>
            <a:r>
              <a:rPr lang="ru-RU" sz="2400" dirty="0">
                <a:solidFill>
                  <a:schemeClr val="bg2">
                    <a:lumMod val="10000"/>
                  </a:schemeClr>
                </a:solidFill>
              </a:rPr>
              <a:t>Чтобы добиться элегантности нужно:</a:t>
            </a:r>
          </a:p>
          <a:p>
            <a:pPr algn="just"/>
            <a:r>
              <a:rPr lang="ru-RU" sz="2400" dirty="0">
                <a:solidFill>
                  <a:schemeClr val="bg2">
                    <a:lumMod val="10000"/>
                  </a:schemeClr>
                </a:solidFill>
              </a:rPr>
              <a:t>Сделать интерфейс максимально насыщенным визуальными закономерностями</a:t>
            </a:r>
          </a:p>
          <a:p>
            <a:pPr algn="just"/>
            <a:r>
              <a:rPr lang="ru-RU" sz="2400" dirty="0">
                <a:solidFill>
                  <a:schemeClr val="bg2">
                    <a:lumMod val="10000"/>
                  </a:schemeClr>
                </a:solidFill>
              </a:rPr>
              <a:t>Использовать модульные сетки, привязывайте все объекты к линиям </a:t>
            </a:r>
            <a:r>
              <a:rPr lang="ru-RU" sz="2400" dirty="0"/>
              <a:t>(лучше узлам) </a:t>
            </a:r>
            <a:r>
              <a:rPr lang="ru-RU" sz="2400" dirty="0">
                <a:solidFill>
                  <a:schemeClr val="bg2">
                    <a:lumMod val="10000"/>
                  </a:schemeClr>
                </a:solidFill>
              </a:rPr>
              <a:t>воображаемой сетки, которую выдерживайте во всем интерфейсе</a:t>
            </a:r>
          </a:p>
          <a:p>
            <a:pPr algn="just"/>
            <a:r>
              <a:rPr lang="ru-RU" sz="2400" dirty="0">
                <a:solidFill>
                  <a:schemeClr val="bg2">
                    <a:lumMod val="10000"/>
                  </a:schemeClr>
                </a:solidFill>
              </a:rPr>
              <a:t>старайтесь привязывать все размеры и координаты к золотому сечению (</a:t>
            </a:r>
            <a:r>
              <a:rPr lang="ru-RU" sz="2400" dirty="0">
                <a:solidFill>
                  <a:schemeClr val="accent1">
                    <a:lumMod val="50000"/>
                  </a:schemeClr>
                </a:solidFill>
                <a:latin typeface="Arial" panose="020B0604020202020204" pitchFamily="34" charset="0"/>
                <a:cs typeface="Arial" panose="020B0604020202020204" pitchFamily="34" charset="0"/>
              </a:rPr>
              <a:t>0,618 × 0,382</a:t>
            </a:r>
            <a:r>
              <a:rPr lang="ru-RU" sz="2400" dirty="0">
                <a:solidFill>
                  <a:schemeClr val="bg2">
                    <a:lumMod val="10000"/>
                  </a:schemeClr>
                </a:solidFill>
              </a:rPr>
              <a:t>)</a:t>
            </a:r>
          </a:p>
          <a:p>
            <a:pPr algn="just"/>
            <a:endParaRPr lang="ru-RU" sz="2400" dirty="0">
              <a:solidFill>
                <a:schemeClr val="bg2">
                  <a:lumMod val="10000"/>
                </a:schemeClr>
              </a:solidFill>
            </a:endParaRPr>
          </a:p>
          <a:p>
            <a:pPr marL="0" indent="0" algn="just">
              <a:buNone/>
            </a:pPr>
            <a:endParaRPr lang="ru-RU" sz="100" b="1" dirty="0">
              <a:solidFill>
                <a:schemeClr val="tx2">
                  <a:lumMod val="90000"/>
                  <a:lumOff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1500653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9" y="2016690"/>
            <a:ext cx="10178322" cy="4600419"/>
          </a:xfrm>
        </p:spPr>
        <p:txBody>
          <a:bodyPr>
            <a:normAutofit/>
          </a:bodyPr>
          <a:lstStyle/>
          <a:p>
            <a:pPr marL="0" indent="0" algn="just">
              <a:buNone/>
            </a:pPr>
            <a:r>
              <a:rPr lang="ru-RU" sz="3200" b="1" dirty="0">
                <a:solidFill>
                  <a:schemeClr val="tx2">
                    <a:lumMod val="90000"/>
                    <a:lumOff val="10000"/>
                  </a:schemeClr>
                </a:solidFill>
              </a:rPr>
              <a:t>Субъективное удовлетворение пользователей</a:t>
            </a:r>
          </a:p>
          <a:p>
            <a:pPr marL="0" indent="0" algn="just">
              <a:buNone/>
            </a:pPr>
            <a:endParaRPr lang="ru-RU" sz="100" b="1" dirty="0">
              <a:solidFill>
                <a:schemeClr val="tx2">
                  <a:lumMod val="90000"/>
                  <a:lumOff val="10000"/>
                </a:schemeClr>
              </a:solidFill>
            </a:endParaRPr>
          </a:p>
          <a:p>
            <a:pPr marL="0" indent="0" algn="just">
              <a:buNone/>
            </a:pPr>
            <a:r>
              <a:rPr lang="ru-RU" sz="2400" dirty="0">
                <a:solidFill>
                  <a:schemeClr val="bg2">
                    <a:lumMod val="10000"/>
                  </a:schemeClr>
                </a:solidFill>
              </a:rPr>
              <a:t>Субъективное ощущение времени</a:t>
            </a:r>
          </a:p>
          <a:p>
            <a:pPr marL="0" indent="0" algn="just">
              <a:buNone/>
            </a:pPr>
            <a:endParaRPr lang="ru-RU" sz="100" dirty="0">
              <a:solidFill>
                <a:schemeClr val="bg2">
                  <a:lumMod val="10000"/>
                </a:schemeClr>
              </a:solidFill>
            </a:endParaRPr>
          </a:p>
          <a:p>
            <a:pPr algn="just"/>
            <a:r>
              <a:rPr lang="ru-RU" sz="2400" dirty="0">
                <a:solidFill>
                  <a:schemeClr val="bg2">
                    <a:lumMod val="10000"/>
                  </a:schemeClr>
                </a:solidFill>
              </a:rPr>
              <a:t>Любой человек хочет работать быстро</a:t>
            </a:r>
          </a:p>
          <a:p>
            <a:pPr algn="just"/>
            <a:r>
              <a:rPr lang="ru-RU" sz="2400" dirty="0">
                <a:solidFill>
                  <a:schemeClr val="bg2">
                    <a:lumMod val="10000"/>
                  </a:schemeClr>
                </a:solidFill>
              </a:rPr>
              <a:t>Если работу можно выполнить быстро, у человека возникает приятное ощущение</a:t>
            </a:r>
          </a:p>
          <a:p>
            <a:pPr algn="just"/>
            <a:r>
              <a:rPr lang="ru-RU" sz="2400" dirty="0">
                <a:solidFill>
                  <a:schemeClr val="bg2">
                    <a:lumMod val="10000"/>
                  </a:schemeClr>
                </a:solidFill>
              </a:rPr>
              <a:t>Воспринимаемая продолжительность действий напрямую зависит от уровня активности пользователя</a:t>
            </a:r>
          </a:p>
          <a:p>
            <a:pPr algn="just"/>
            <a:r>
              <a:rPr lang="ru-RU" sz="2400" dirty="0">
                <a:solidFill>
                  <a:schemeClr val="bg2">
                    <a:lumMod val="10000"/>
                  </a:schemeClr>
                </a:solidFill>
              </a:rPr>
              <a:t>При бездействии (скуке) время течет невыносимо медленно</a:t>
            </a:r>
          </a:p>
          <a:p>
            <a:pPr marL="0" indent="0" algn="just">
              <a:buNone/>
            </a:pPr>
            <a:endParaRPr lang="ru-RU" sz="100" b="1" dirty="0">
              <a:solidFill>
                <a:schemeClr val="tx2">
                  <a:lumMod val="90000"/>
                  <a:lumOff val="10000"/>
                </a:schemeClr>
              </a:solidFill>
            </a:endParaRPr>
          </a:p>
          <a:p>
            <a:pPr marL="0" indent="0" algn="just">
              <a:buNone/>
            </a:pP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8221624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9" y="2016690"/>
            <a:ext cx="10178322" cy="4600419"/>
          </a:xfrm>
        </p:spPr>
        <p:txBody>
          <a:bodyPr>
            <a:normAutofit/>
          </a:bodyPr>
          <a:lstStyle/>
          <a:p>
            <a:pPr marL="0" indent="0" algn="just">
              <a:buNone/>
            </a:pPr>
            <a:r>
              <a:rPr lang="ru-RU" sz="3200" b="1" dirty="0">
                <a:solidFill>
                  <a:schemeClr val="tx2">
                    <a:lumMod val="90000"/>
                    <a:lumOff val="10000"/>
                  </a:schemeClr>
                </a:solidFill>
              </a:rPr>
              <a:t>Субъективное удовлетворение пользователей</a:t>
            </a:r>
          </a:p>
          <a:p>
            <a:pPr marL="0" indent="0" algn="just">
              <a:buNone/>
            </a:pPr>
            <a:endParaRPr lang="ru-RU" sz="100" b="1" dirty="0">
              <a:solidFill>
                <a:schemeClr val="tx2">
                  <a:lumMod val="90000"/>
                  <a:lumOff val="10000"/>
                </a:schemeClr>
              </a:solidFill>
            </a:endParaRPr>
          </a:p>
          <a:p>
            <a:pPr marL="0" indent="0" algn="just">
              <a:buNone/>
            </a:pPr>
            <a:r>
              <a:rPr lang="ru-RU" sz="2400" dirty="0">
                <a:solidFill>
                  <a:schemeClr val="bg2">
                    <a:lumMod val="10000"/>
                  </a:schemeClr>
                </a:solidFill>
              </a:rPr>
              <a:t>Субъективное ощущение времени</a:t>
            </a:r>
          </a:p>
          <a:p>
            <a:pPr marL="0" indent="0" algn="just">
              <a:buNone/>
            </a:pPr>
            <a:endParaRPr lang="ru-RU" sz="100" dirty="0">
              <a:solidFill>
                <a:schemeClr val="bg2">
                  <a:lumMod val="10000"/>
                </a:schemeClr>
              </a:solidFill>
            </a:endParaRPr>
          </a:p>
          <a:p>
            <a:pPr marL="0" indent="0" algn="just">
              <a:buNone/>
            </a:pPr>
            <a:r>
              <a:rPr lang="ru-RU" sz="2400" i="1" dirty="0">
                <a:solidFill>
                  <a:schemeClr val="bg2">
                    <a:lumMod val="10000"/>
                  </a:schemeClr>
                </a:solidFill>
              </a:rPr>
              <a:t>Субъективную скорость работы можно повысить двумя способами:</a:t>
            </a:r>
          </a:p>
          <a:p>
            <a:pPr algn="just"/>
            <a:r>
              <a:rPr lang="ru-RU" sz="2400" dirty="0">
                <a:solidFill>
                  <a:schemeClr val="bg2">
                    <a:lumMod val="10000"/>
                  </a:schemeClr>
                </a:solidFill>
              </a:rPr>
              <a:t>Заполнение пауз между событиями</a:t>
            </a:r>
          </a:p>
          <a:p>
            <a:pPr algn="just"/>
            <a:r>
              <a:rPr lang="ru-RU" sz="2400" dirty="0">
                <a:solidFill>
                  <a:schemeClr val="bg2">
                    <a:lumMod val="10000"/>
                  </a:schemeClr>
                </a:solidFill>
              </a:rPr>
              <a:t>Разделение крупных действий пользователей на более мелкие</a:t>
            </a:r>
          </a:p>
          <a:p>
            <a:pPr marL="0" indent="0" algn="just">
              <a:buNone/>
            </a:pPr>
            <a:endParaRPr lang="ru-RU" sz="100" dirty="0">
              <a:solidFill>
                <a:schemeClr val="bg2">
                  <a:lumMod val="10000"/>
                </a:schemeClr>
              </a:solidFill>
            </a:endParaRPr>
          </a:p>
          <a:p>
            <a:pPr marL="0" indent="0" algn="just">
              <a:buNone/>
            </a:pPr>
            <a:endParaRPr lang="ru-RU" sz="100" b="1" dirty="0">
              <a:solidFill>
                <a:schemeClr val="tx2">
                  <a:lumMod val="90000"/>
                  <a:lumOff val="10000"/>
                </a:schemeClr>
              </a:solidFill>
            </a:endParaRPr>
          </a:p>
          <a:p>
            <a:pPr marL="0" indent="0" algn="just">
              <a:buNone/>
            </a:pPr>
            <a:endParaRPr lang="ru-RU" sz="100" b="1" dirty="0">
              <a:solidFill>
                <a:schemeClr val="tx2">
                  <a:lumMod val="90000"/>
                  <a:lumOff val="10000"/>
                </a:schemeClr>
              </a:solidFill>
            </a:endParaRPr>
          </a:p>
          <a:p>
            <a:pPr marL="0" indent="0" algn="just">
              <a:buNone/>
            </a:pPr>
            <a:r>
              <a:rPr lang="ru-RU" sz="100" b="1" dirty="0" err="1">
                <a:solidFill>
                  <a:schemeClr val="tx2">
                    <a:lumMod val="90000"/>
                    <a:lumOff val="10000"/>
                  </a:schemeClr>
                </a:solidFill>
              </a:rPr>
              <a:t>ауау</a:t>
            </a:r>
            <a:endParaRPr lang="ru-RU" sz="100" b="1" dirty="0">
              <a:solidFill>
                <a:schemeClr val="tx2">
                  <a:lumMod val="90000"/>
                  <a:lumOff val="10000"/>
                </a:schemeClr>
              </a:solidFill>
            </a:endParaRPr>
          </a:p>
        </p:txBody>
      </p:sp>
    </p:spTree>
    <p:extLst>
      <p:ext uri="{BB962C8B-B14F-4D97-AF65-F5344CB8AC3E}">
        <p14:creationId xmlns:p14="http://schemas.microsoft.com/office/powerpoint/2010/main" val="1072050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9" y="2016690"/>
            <a:ext cx="10178322" cy="4600419"/>
          </a:xfrm>
        </p:spPr>
        <p:txBody>
          <a:bodyPr>
            <a:normAutofit fontScale="92500" lnSpcReduction="20000"/>
          </a:bodyPr>
          <a:lstStyle/>
          <a:p>
            <a:pPr marL="0" indent="0" algn="just">
              <a:buNone/>
            </a:pPr>
            <a:r>
              <a:rPr lang="ru-RU" sz="3200" b="1" dirty="0">
                <a:solidFill>
                  <a:schemeClr val="tx2">
                    <a:lumMod val="90000"/>
                    <a:lumOff val="10000"/>
                  </a:schemeClr>
                </a:solidFill>
              </a:rPr>
              <a:t>Субъективное удовлетворение пользователей</a:t>
            </a:r>
          </a:p>
          <a:p>
            <a:pPr marL="0" indent="0" algn="just">
              <a:buNone/>
            </a:pPr>
            <a:endParaRPr lang="ru-RU" sz="100" b="1" dirty="0">
              <a:solidFill>
                <a:schemeClr val="tx2">
                  <a:lumMod val="90000"/>
                  <a:lumOff val="10000"/>
                </a:schemeClr>
              </a:solidFill>
            </a:endParaRPr>
          </a:p>
          <a:p>
            <a:pPr marL="0" indent="0" algn="just">
              <a:buNone/>
            </a:pPr>
            <a:r>
              <a:rPr lang="ru-RU" sz="2600" dirty="0">
                <a:solidFill>
                  <a:schemeClr val="bg2">
                    <a:lumMod val="10000"/>
                  </a:schemeClr>
                </a:solidFill>
              </a:rPr>
              <a:t>Субъективное</a:t>
            </a:r>
            <a:r>
              <a:rPr lang="ru-RU" sz="2400" dirty="0">
                <a:solidFill>
                  <a:schemeClr val="bg2">
                    <a:lumMod val="10000"/>
                  </a:schemeClr>
                </a:solidFill>
              </a:rPr>
              <a:t> </a:t>
            </a:r>
            <a:r>
              <a:rPr lang="ru-RU" sz="2600" dirty="0">
                <a:solidFill>
                  <a:schemeClr val="bg2">
                    <a:lumMod val="10000"/>
                  </a:schemeClr>
                </a:solidFill>
              </a:rPr>
              <a:t>ощущение времени</a:t>
            </a:r>
          </a:p>
          <a:p>
            <a:pPr marL="0" indent="0" algn="just">
              <a:buNone/>
            </a:pPr>
            <a:endParaRPr lang="ru-RU" sz="100" dirty="0">
              <a:solidFill>
                <a:schemeClr val="bg2">
                  <a:lumMod val="10000"/>
                </a:schemeClr>
              </a:solidFill>
            </a:endParaRPr>
          </a:p>
          <a:p>
            <a:pPr marL="0" indent="0" algn="just">
              <a:buNone/>
            </a:pPr>
            <a:r>
              <a:rPr lang="ru-RU" sz="2600" i="1" dirty="0">
                <a:solidFill>
                  <a:schemeClr val="bg2">
                    <a:lumMod val="10000"/>
                  </a:schemeClr>
                </a:solidFill>
              </a:rPr>
              <a:t>Заполнение пауз между событиями </a:t>
            </a:r>
          </a:p>
          <a:p>
            <a:pPr algn="just"/>
            <a:r>
              <a:rPr lang="ru-RU" sz="2600" dirty="0">
                <a:solidFill>
                  <a:schemeClr val="bg2">
                    <a:lumMod val="10000"/>
                  </a:schemeClr>
                </a:solidFill>
              </a:rPr>
              <a:t>Если в периоды ожидания реакции системы пользователям показывается индикатор степени выполнения, субъективная продолжительность паузы существенно снижается</a:t>
            </a:r>
          </a:p>
          <a:p>
            <a:pPr algn="just"/>
            <a:r>
              <a:rPr lang="ru-RU" sz="2600" dirty="0">
                <a:solidFill>
                  <a:schemeClr val="bg2">
                    <a:lumMod val="10000"/>
                  </a:schemeClr>
                </a:solidFill>
              </a:rPr>
              <a:t>Чем больше информации предъявляется пользователям в паузах, тем меньше субъективное время.</a:t>
            </a:r>
          </a:p>
          <a:p>
            <a:pPr marL="0" indent="0" algn="just">
              <a:buNone/>
            </a:pPr>
            <a:endParaRPr lang="ru-RU" sz="2400" dirty="0">
              <a:solidFill>
                <a:schemeClr val="bg2">
                  <a:lumMod val="10000"/>
                </a:schemeClr>
              </a:solidFill>
            </a:endParaRPr>
          </a:p>
          <a:p>
            <a:pPr marL="0" indent="0" algn="just">
              <a:buNone/>
            </a:pPr>
            <a:r>
              <a:rPr lang="ru-RU" sz="2600" dirty="0">
                <a:solidFill>
                  <a:schemeClr val="tx2">
                    <a:lumMod val="90000"/>
                    <a:lumOff val="10000"/>
                  </a:schemeClr>
                </a:solidFill>
              </a:rPr>
              <a:t>Эта информация может вызвать стресс в кратковременной памяти, так что пользоваться этим методом надо осторожно. </a:t>
            </a:r>
            <a:endParaRPr lang="ru-RU" sz="2600" b="1" dirty="0">
              <a:solidFill>
                <a:schemeClr val="tx2">
                  <a:lumMod val="90000"/>
                  <a:lumOff val="10000"/>
                </a:schemeClr>
              </a:solidFill>
            </a:endParaRPr>
          </a:p>
        </p:txBody>
      </p:sp>
    </p:spTree>
    <p:extLst>
      <p:ext uri="{BB962C8B-B14F-4D97-AF65-F5344CB8AC3E}">
        <p14:creationId xmlns:p14="http://schemas.microsoft.com/office/powerpoint/2010/main" val="32331575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9" y="2016690"/>
            <a:ext cx="10178322" cy="4600419"/>
          </a:xfrm>
        </p:spPr>
        <p:txBody>
          <a:bodyPr>
            <a:normAutofit/>
          </a:bodyPr>
          <a:lstStyle/>
          <a:p>
            <a:pPr marL="0" indent="0" algn="just">
              <a:buNone/>
            </a:pPr>
            <a:r>
              <a:rPr lang="ru-RU" sz="3200" b="1" dirty="0">
                <a:solidFill>
                  <a:schemeClr val="tx2">
                    <a:lumMod val="90000"/>
                    <a:lumOff val="10000"/>
                  </a:schemeClr>
                </a:solidFill>
              </a:rPr>
              <a:t>Субъективное удовлетворение пользователей</a:t>
            </a:r>
          </a:p>
          <a:p>
            <a:pPr marL="0" indent="0" algn="just">
              <a:buNone/>
            </a:pPr>
            <a:endParaRPr lang="ru-RU" sz="100" b="1" dirty="0">
              <a:solidFill>
                <a:schemeClr val="tx2">
                  <a:lumMod val="90000"/>
                  <a:lumOff val="10000"/>
                </a:schemeClr>
              </a:solidFill>
            </a:endParaRPr>
          </a:p>
          <a:p>
            <a:pPr marL="0" indent="0" algn="just">
              <a:buNone/>
            </a:pPr>
            <a:r>
              <a:rPr lang="ru-RU" sz="2400" dirty="0">
                <a:solidFill>
                  <a:schemeClr val="bg2">
                    <a:lumMod val="10000"/>
                  </a:schemeClr>
                </a:solidFill>
              </a:rPr>
              <a:t>Субъективное ощущение времени</a:t>
            </a:r>
          </a:p>
          <a:p>
            <a:pPr marL="0" indent="0" algn="just">
              <a:buNone/>
            </a:pPr>
            <a:endParaRPr lang="ru-RU" sz="100" dirty="0">
              <a:solidFill>
                <a:schemeClr val="bg2">
                  <a:lumMod val="10000"/>
                </a:schemeClr>
              </a:solidFill>
            </a:endParaRPr>
          </a:p>
          <a:p>
            <a:pPr marL="0" indent="0" algn="just">
              <a:buNone/>
            </a:pPr>
            <a:r>
              <a:rPr lang="ru-RU" sz="2400" i="1" dirty="0">
                <a:solidFill>
                  <a:schemeClr val="bg2">
                    <a:lumMod val="10000"/>
                  </a:schemeClr>
                </a:solidFill>
              </a:rPr>
              <a:t>Разделение крупных действий пользователей</a:t>
            </a:r>
          </a:p>
          <a:p>
            <a:pPr algn="just"/>
            <a:r>
              <a:rPr lang="ru-RU" sz="2400" dirty="0">
                <a:solidFill>
                  <a:schemeClr val="bg2">
                    <a:lumMod val="10000"/>
                  </a:schemeClr>
                </a:solidFill>
              </a:rPr>
              <a:t>Количество работы увеличивается, но зато субъективная длительность снижается</a:t>
            </a:r>
          </a:p>
          <a:p>
            <a:pPr marL="0" indent="0" algn="just">
              <a:buNone/>
            </a:pPr>
            <a:endParaRPr lang="ru-RU" sz="2400" dirty="0">
              <a:solidFill>
                <a:schemeClr val="bg2">
                  <a:lumMod val="10000"/>
                </a:schemeClr>
              </a:solidFill>
            </a:endParaRPr>
          </a:p>
          <a:p>
            <a:pPr marL="0" indent="0" algn="just">
              <a:buNone/>
            </a:pPr>
            <a:r>
              <a:rPr lang="ru-RU" sz="2400" dirty="0">
                <a:solidFill>
                  <a:schemeClr val="tx2">
                    <a:lumMod val="90000"/>
                    <a:lumOff val="10000"/>
                  </a:schemeClr>
                </a:solidFill>
              </a:rPr>
              <a:t>Плох этот метод тем, что увеличивает усталость.</a:t>
            </a:r>
            <a:endParaRPr lang="ru-RU" sz="2600" b="1" dirty="0">
              <a:solidFill>
                <a:schemeClr val="tx2">
                  <a:lumMod val="90000"/>
                  <a:lumOff val="10000"/>
                </a:schemeClr>
              </a:solidFill>
            </a:endParaRPr>
          </a:p>
        </p:txBody>
      </p:sp>
    </p:spTree>
    <p:extLst>
      <p:ext uri="{BB962C8B-B14F-4D97-AF65-F5344CB8AC3E}">
        <p14:creationId xmlns:p14="http://schemas.microsoft.com/office/powerpoint/2010/main" val="15668695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8" y="2016690"/>
            <a:ext cx="10566695" cy="4600419"/>
          </a:xfrm>
        </p:spPr>
        <p:txBody>
          <a:bodyPr>
            <a:normAutofit/>
          </a:bodyPr>
          <a:lstStyle/>
          <a:p>
            <a:pPr marL="0" indent="0" algn="just">
              <a:buNone/>
            </a:pPr>
            <a:r>
              <a:rPr lang="ru-RU" sz="3200" b="1" dirty="0">
                <a:solidFill>
                  <a:schemeClr val="tx2">
                    <a:lumMod val="90000"/>
                    <a:lumOff val="10000"/>
                  </a:schemeClr>
                </a:solidFill>
              </a:rPr>
              <a:t>Субъективное ощущение психологического напряжения</a:t>
            </a:r>
          </a:p>
          <a:p>
            <a:pPr marL="0" indent="0" algn="just">
              <a:buNone/>
            </a:pPr>
            <a:endParaRPr lang="ru-RU" sz="100" b="1" dirty="0">
              <a:solidFill>
                <a:schemeClr val="tx2">
                  <a:lumMod val="90000"/>
                  <a:lumOff val="10000"/>
                </a:schemeClr>
              </a:solidFill>
            </a:endParaRPr>
          </a:p>
          <a:p>
            <a:pPr algn="just"/>
            <a:r>
              <a:rPr lang="ru-RU" sz="2400" dirty="0">
                <a:solidFill>
                  <a:schemeClr val="bg2">
                    <a:lumMod val="10000"/>
                  </a:schemeClr>
                </a:solidFill>
              </a:rPr>
              <a:t>Пользователь знает, что во время работы может что-либо испортить и это вызывает у него психологическое напряжение – стресс.</a:t>
            </a:r>
          </a:p>
          <a:p>
            <a:pPr algn="just"/>
            <a:r>
              <a:rPr lang="ru-RU" sz="2400" dirty="0">
                <a:solidFill>
                  <a:schemeClr val="bg2">
                    <a:lumMod val="10000"/>
                  </a:schemeClr>
                </a:solidFill>
              </a:rPr>
              <a:t>Пользователь, знающий, что он не может совершить ошибку, испытывает радость и умиротворение.</a:t>
            </a:r>
          </a:p>
          <a:p>
            <a:pPr marL="0" indent="0" algn="just">
              <a:buNone/>
            </a:pPr>
            <a:r>
              <a:rPr lang="ru-RU" sz="2400" i="1" dirty="0">
                <a:solidFill>
                  <a:schemeClr val="tx2">
                    <a:lumMod val="90000"/>
                    <a:lumOff val="10000"/>
                  </a:schemeClr>
                </a:solidFill>
              </a:rPr>
              <a:t>Чтобы добиться второго пункта нужно иметь возможность:</a:t>
            </a:r>
          </a:p>
          <a:p>
            <a:pPr algn="just"/>
            <a:r>
              <a:rPr lang="ru-RU" sz="2200" dirty="0">
                <a:solidFill>
                  <a:schemeClr val="bg2">
                    <a:lumMod val="10000"/>
                  </a:schemeClr>
                </a:solidFill>
              </a:rPr>
              <a:t>Отменять свои предыдущие действия, без ограничения количества уровней отмены и типа отменяемых действий.</a:t>
            </a:r>
          </a:p>
          <a:p>
            <a:pPr algn="just"/>
            <a:r>
              <a:rPr lang="ru-RU" sz="2200" dirty="0">
                <a:solidFill>
                  <a:schemeClr val="bg2">
                    <a:lumMod val="10000"/>
                  </a:schemeClr>
                </a:solidFill>
              </a:rPr>
              <a:t>Прятать опасные для пользователя места интерфейса.</a:t>
            </a:r>
          </a:p>
          <a:p>
            <a:pPr algn="just"/>
            <a:endParaRPr lang="ru-RU" sz="2400" dirty="0">
              <a:solidFill>
                <a:schemeClr val="bg2">
                  <a:lumMod val="10000"/>
                </a:schemeClr>
              </a:solidFill>
            </a:endParaRPr>
          </a:p>
          <a:p>
            <a:pPr algn="just"/>
            <a:endParaRPr lang="ru-RU" sz="2400" dirty="0">
              <a:solidFill>
                <a:schemeClr val="bg2">
                  <a:lumMod val="10000"/>
                </a:schemeClr>
              </a:solidFill>
            </a:endParaRPr>
          </a:p>
          <a:p>
            <a:pPr marL="0" indent="0" algn="just">
              <a:buNone/>
            </a:pPr>
            <a:endParaRPr lang="ru-RU" sz="100" dirty="0">
              <a:solidFill>
                <a:schemeClr val="bg2">
                  <a:lumMod val="10000"/>
                </a:schemeClr>
              </a:solidFill>
            </a:endParaRPr>
          </a:p>
        </p:txBody>
      </p:sp>
    </p:spTree>
    <p:extLst>
      <p:ext uri="{BB962C8B-B14F-4D97-AF65-F5344CB8AC3E}">
        <p14:creationId xmlns:p14="http://schemas.microsoft.com/office/powerpoint/2010/main" val="11461278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8" y="2016690"/>
            <a:ext cx="10566695" cy="4600419"/>
          </a:xfrm>
        </p:spPr>
        <p:txBody>
          <a:bodyPr>
            <a:normAutofit/>
          </a:bodyPr>
          <a:lstStyle/>
          <a:p>
            <a:pPr marL="0" indent="0" algn="just">
              <a:buNone/>
            </a:pPr>
            <a:r>
              <a:rPr lang="ru-RU" sz="3200" b="1" dirty="0">
                <a:solidFill>
                  <a:schemeClr val="tx2">
                    <a:lumMod val="90000"/>
                    <a:lumOff val="10000"/>
                  </a:schemeClr>
                </a:solidFill>
              </a:rPr>
              <a:t>Субъективное ощущение собственной глупости</a:t>
            </a:r>
          </a:p>
          <a:p>
            <a:pPr marL="0" indent="0" algn="just">
              <a:buNone/>
            </a:pPr>
            <a:endParaRPr lang="ru-RU" sz="100" b="1" dirty="0">
              <a:solidFill>
                <a:schemeClr val="tx2">
                  <a:lumMod val="90000"/>
                  <a:lumOff val="10000"/>
                </a:schemeClr>
              </a:solidFill>
            </a:endParaRPr>
          </a:p>
          <a:p>
            <a:pPr algn="just"/>
            <a:r>
              <a:rPr lang="ru-RU" sz="2400" dirty="0">
                <a:solidFill>
                  <a:schemeClr val="bg2">
                    <a:lumMod val="10000"/>
                  </a:schemeClr>
                </a:solidFill>
              </a:rPr>
              <a:t>Ни один пользователь не может долго и продуктивно работать с системой, которая говорит, что он глуп.</a:t>
            </a:r>
          </a:p>
          <a:p>
            <a:pPr algn="just"/>
            <a:r>
              <a:rPr lang="ru-RU" sz="2400" dirty="0">
                <a:solidFill>
                  <a:schemeClr val="bg2">
                    <a:lumMod val="10000"/>
                  </a:schemeClr>
                </a:solidFill>
              </a:rPr>
              <a:t>Такие «скандальные» системы являются нормой. Виной тому сообщения об ошибках.</a:t>
            </a:r>
          </a:p>
          <a:p>
            <a:pPr marL="0" indent="0" algn="just">
              <a:buNone/>
            </a:pPr>
            <a:r>
              <a:rPr lang="ru-RU" sz="2400" dirty="0">
                <a:solidFill>
                  <a:schemeClr val="tx2">
                    <a:lumMod val="90000"/>
                    <a:lumOff val="10000"/>
                  </a:schemeClr>
                </a:solidFill>
              </a:rPr>
              <a:t>Пользователи ненавидят сообщения об ошибках. </a:t>
            </a:r>
          </a:p>
          <a:p>
            <a:pPr marL="0" indent="0" algn="just">
              <a:buNone/>
            </a:pPr>
            <a:r>
              <a:rPr lang="ru-RU" dirty="0">
                <a:solidFill>
                  <a:schemeClr val="bg2">
                    <a:lumMod val="10000"/>
                  </a:schemeClr>
                </a:solidFill>
              </a:rPr>
              <a:t>П</a:t>
            </a:r>
            <a:r>
              <a:rPr lang="ru-RU" sz="2000" dirty="0">
                <a:solidFill>
                  <a:schemeClr val="bg2">
                    <a:lumMod val="10000"/>
                  </a:schemeClr>
                </a:solidFill>
              </a:rPr>
              <a:t>очти любое сообщение об ошибке есть признак того, что система спроектирована плохо. Всегда можно сделать так, чтобы показывать сообщение было не нужно. Любое сообщение об ошибке говорит пользователю, что он «дурак».</a:t>
            </a:r>
            <a:endParaRPr lang="ru-RU" sz="2400" dirty="0">
              <a:solidFill>
                <a:schemeClr val="bg2">
                  <a:lumMod val="10000"/>
                </a:schemeClr>
              </a:solidFill>
            </a:endParaRPr>
          </a:p>
          <a:p>
            <a:pPr marL="0" indent="0" algn="just">
              <a:buNone/>
            </a:pPr>
            <a:endParaRPr lang="ru-RU" sz="100" dirty="0">
              <a:solidFill>
                <a:schemeClr val="bg2">
                  <a:lumMod val="10000"/>
                </a:schemeClr>
              </a:solidFill>
            </a:endParaRPr>
          </a:p>
        </p:txBody>
      </p:sp>
    </p:spTree>
    <p:extLst>
      <p:ext uri="{BB962C8B-B14F-4D97-AF65-F5344CB8AC3E}">
        <p14:creationId xmlns:p14="http://schemas.microsoft.com/office/powerpoint/2010/main" val="34594957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8" y="2016690"/>
            <a:ext cx="10566695" cy="4600419"/>
          </a:xfrm>
        </p:spPr>
        <p:txBody>
          <a:bodyPr>
            <a:normAutofit fontScale="92500"/>
          </a:bodyPr>
          <a:lstStyle/>
          <a:p>
            <a:pPr marL="0" indent="0" algn="just">
              <a:buNone/>
            </a:pPr>
            <a:r>
              <a:rPr lang="ru-RU" sz="3200" b="1" dirty="0">
                <a:solidFill>
                  <a:schemeClr val="tx2">
                    <a:lumMod val="90000"/>
                    <a:lumOff val="10000"/>
                  </a:schemeClr>
                </a:solidFill>
              </a:rPr>
              <a:t>Субъективное ощущение собственной глупости</a:t>
            </a:r>
          </a:p>
          <a:p>
            <a:pPr marL="0" indent="0" algn="just">
              <a:buNone/>
            </a:pPr>
            <a:r>
              <a:rPr lang="ru-RU" sz="2400" dirty="0">
                <a:solidFill>
                  <a:schemeClr val="bg2">
                    <a:lumMod val="10000"/>
                  </a:schemeClr>
                </a:solidFill>
              </a:rPr>
              <a:t>Каким должно быть сообщение об ошибке:</a:t>
            </a:r>
          </a:p>
          <a:p>
            <a:pPr algn="just"/>
            <a:r>
              <a:rPr lang="ru-RU" sz="2400" dirty="0">
                <a:solidFill>
                  <a:schemeClr val="bg2">
                    <a:lumMod val="10000"/>
                  </a:schemeClr>
                </a:solidFill>
              </a:rPr>
              <a:t>Текст сообщения может быть вольным, но, как минимум, помогать пользователям быстро разобраться с причиной и избегать сбоев в дальнейшем.</a:t>
            </a:r>
          </a:p>
          <a:p>
            <a:pPr algn="just"/>
            <a:r>
              <a:rPr lang="ru-RU" sz="2400" dirty="0">
                <a:solidFill>
                  <a:schemeClr val="bg2">
                    <a:lumMod val="10000"/>
                  </a:schemeClr>
                </a:solidFill>
              </a:rPr>
              <a:t>Старайтесь избегать специализированных терминов, пишите сообщения общедоступным, понятным языком.</a:t>
            </a:r>
          </a:p>
          <a:p>
            <a:pPr algn="just"/>
            <a:r>
              <a:rPr lang="ru-RU" sz="2400" dirty="0">
                <a:solidFill>
                  <a:schemeClr val="bg2">
                    <a:lumMod val="10000"/>
                  </a:schemeClr>
                </a:solidFill>
              </a:rPr>
              <a:t>С помощью сообщений об ошибках можно сразу выделить конкретные поля ввода, на которые нужно обратить внимание пользователя.</a:t>
            </a:r>
          </a:p>
          <a:p>
            <a:pPr algn="just"/>
            <a:r>
              <a:rPr lang="ru-RU" sz="2400" dirty="0">
                <a:solidFill>
                  <a:schemeClr val="bg2">
                    <a:lumMod val="10000"/>
                  </a:schemeClr>
                </a:solidFill>
              </a:rPr>
              <a:t>Всегда старайтесь сразу визуально подсказать, где именно пользователь должен решить возникшее затруднение.</a:t>
            </a:r>
            <a:endParaRPr lang="ru-RU" sz="2400" b="1" dirty="0">
              <a:solidFill>
                <a:schemeClr val="bg2">
                  <a:lumMod val="10000"/>
                </a:schemeClr>
              </a:solidFill>
            </a:endParaRPr>
          </a:p>
          <a:p>
            <a:pPr marL="0" indent="0" algn="just">
              <a:buNone/>
            </a:pPr>
            <a:endParaRPr lang="ru-RU" sz="100" b="1" dirty="0">
              <a:solidFill>
                <a:schemeClr val="tx2">
                  <a:lumMod val="90000"/>
                  <a:lumOff val="10000"/>
                </a:schemeClr>
              </a:solidFill>
            </a:endParaRPr>
          </a:p>
          <a:p>
            <a:pPr marL="0" indent="0" algn="just">
              <a:buNone/>
            </a:pPr>
            <a:endParaRPr lang="ru-RU" sz="100" dirty="0">
              <a:solidFill>
                <a:schemeClr val="bg2">
                  <a:lumMod val="10000"/>
                </a:schemeClr>
              </a:solidFill>
            </a:endParaRPr>
          </a:p>
        </p:txBody>
      </p:sp>
    </p:spTree>
    <p:extLst>
      <p:ext uri="{BB962C8B-B14F-4D97-AF65-F5344CB8AC3E}">
        <p14:creationId xmlns:p14="http://schemas.microsoft.com/office/powerpoint/2010/main" val="14732565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8" y="2016690"/>
            <a:ext cx="10566695" cy="4600419"/>
          </a:xfrm>
        </p:spPr>
        <p:txBody>
          <a:bodyPr>
            <a:normAutofit/>
          </a:bodyPr>
          <a:lstStyle/>
          <a:p>
            <a:pPr marL="0" indent="0" algn="just">
              <a:buNone/>
            </a:pPr>
            <a:r>
              <a:rPr lang="ru-RU" sz="3200" b="1" dirty="0">
                <a:solidFill>
                  <a:schemeClr val="tx2">
                    <a:lumMod val="90000"/>
                    <a:lumOff val="10000"/>
                  </a:schemeClr>
                </a:solidFill>
              </a:rPr>
              <a:t>Субъективное ощущение собственной глупости</a:t>
            </a:r>
          </a:p>
          <a:p>
            <a:pPr marL="0" indent="0" algn="just">
              <a:buNone/>
            </a:pPr>
            <a:endParaRPr lang="ru-RU" sz="100" b="1" dirty="0">
              <a:solidFill>
                <a:schemeClr val="tx2">
                  <a:lumMod val="90000"/>
                  <a:lumOff val="10000"/>
                </a:schemeClr>
              </a:solidFill>
            </a:endParaRPr>
          </a:p>
          <a:p>
            <a:pPr marL="0" indent="0" algn="just">
              <a:buNone/>
            </a:pPr>
            <a:r>
              <a:rPr lang="ru-RU" sz="2400" dirty="0">
                <a:solidFill>
                  <a:schemeClr val="bg2">
                    <a:lumMod val="10000"/>
                  </a:schemeClr>
                </a:solidFill>
              </a:rPr>
              <a:t>Идеальное сообщение об ошибке должно отвечать всего на три вопроса:</a:t>
            </a:r>
          </a:p>
          <a:p>
            <a:pPr marL="0" indent="0" algn="just">
              <a:buNone/>
            </a:pPr>
            <a:endParaRPr lang="ru-RU" sz="100" dirty="0">
              <a:solidFill>
                <a:schemeClr val="bg2">
                  <a:lumMod val="10000"/>
                </a:schemeClr>
              </a:solidFill>
            </a:endParaRPr>
          </a:p>
          <a:p>
            <a:pPr marL="457200" indent="-457200" algn="just">
              <a:buFont typeface="+mj-lt"/>
              <a:buAutoNum type="arabicPeriod"/>
            </a:pPr>
            <a:r>
              <a:rPr lang="ru-RU" sz="2400" dirty="0">
                <a:solidFill>
                  <a:schemeClr val="bg2">
                    <a:lumMod val="10000"/>
                  </a:schemeClr>
                </a:solidFill>
              </a:rPr>
              <a:t>В чем заключается проблема? </a:t>
            </a:r>
          </a:p>
          <a:p>
            <a:pPr marL="457200" indent="-457200" algn="just">
              <a:buFont typeface="+mj-lt"/>
              <a:buAutoNum type="arabicPeriod"/>
            </a:pPr>
            <a:r>
              <a:rPr lang="ru-RU" sz="2400" dirty="0">
                <a:solidFill>
                  <a:schemeClr val="bg2">
                    <a:lumMod val="10000"/>
                  </a:schemeClr>
                </a:solidFill>
              </a:rPr>
              <a:t>Как исправить эту проблему сейчас? </a:t>
            </a:r>
          </a:p>
          <a:p>
            <a:pPr marL="457200" indent="-457200" algn="just">
              <a:buFont typeface="+mj-lt"/>
              <a:buAutoNum type="arabicPeriod"/>
            </a:pPr>
            <a:r>
              <a:rPr lang="ru-RU" sz="2400" dirty="0">
                <a:solidFill>
                  <a:schemeClr val="bg2">
                    <a:lumMod val="10000"/>
                  </a:schemeClr>
                </a:solidFill>
              </a:rPr>
              <a:t>Как сделать так, чтобы проблема не повторилась?</a:t>
            </a:r>
            <a:endParaRPr lang="ru-RU" sz="2400" b="1" dirty="0">
              <a:solidFill>
                <a:schemeClr val="bg2">
                  <a:lumMod val="10000"/>
                </a:schemeClr>
              </a:solidFill>
            </a:endParaRPr>
          </a:p>
          <a:p>
            <a:pPr marL="0" indent="0" algn="just">
              <a:buNone/>
            </a:pPr>
            <a:endParaRPr lang="ru-RU" sz="100" dirty="0">
              <a:solidFill>
                <a:schemeClr val="bg2">
                  <a:lumMod val="10000"/>
                </a:schemeClr>
              </a:solidFill>
            </a:endParaRPr>
          </a:p>
        </p:txBody>
      </p:sp>
      <p:pic>
        <p:nvPicPr>
          <p:cNvPr id="6146" name="Picture 2" descr="Picture background">
            <a:extLst>
              <a:ext uri="{FF2B5EF4-FFF2-40B4-BE49-F238E27FC236}">
                <a16:creationId xmlns:a16="http://schemas.microsoft.com/office/drawing/2014/main" id="{919EF347-0370-EAAD-9DBF-DE92975F89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2728" y="3422163"/>
            <a:ext cx="2517272" cy="1789471"/>
          </a:xfrm>
          <a:prstGeom prst="rect">
            <a:avLst/>
          </a:prstGeom>
          <a:ln w="3175" cap="sq" cmpd="thickThin">
            <a:solidFill>
              <a:srgbClr val="000000"/>
            </a:solidFill>
            <a:prstDash val="solid"/>
            <a:miter lim="800000"/>
          </a:ln>
          <a:effectLst>
            <a:glow rad="63500">
              <a:schemeClr val="accent6">
                <a:satMod val="175000"/>
                <a:alpha val="40000"/>
              </a:schemeClr>
            </a:glow>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10135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22D6A-EBEF-1620-43C3-87CCA497D489}"/>
              </a:ext>
            </a:extLst>
          </p:cNvPr>
          <p:cNvSpPr>
            <a:spLocks noGrp="1"/>
          </p:cNvSpPr>
          <p:nvPr>
            <p:ph type="title"/>
          </p:nvPr>
        </p:nvSpPr>
        <p:spPr/>
        <p:txBody>
          <a:bodyPr/>
          <a:lstStyle/>
          <a:p>
            <a:r>
              <a:rPr lang="ru-RU" sz="4800" cap="none" dirty="0"/>
              <a:t>КРИТЕРИИ КАЧЕСТВА ИНТЕРФЕЙСА ПОЛЬЗОВАТЕЛЯ</a:t>
            </a:r>
            <a:endParaRPr lang="ru-RU" dirty="0"/>
          </a:p>
        </p:txBody>
      </p:sp>
      <p:sp>
        <p:nvSpPr>
          <p:cNvPr id="3" name="Объект 2">
            <a:extLst>
              <a:ext uri="{FF2B5EF4-FFF2-40B4-BE49-F238E27FC236}">
                <a16:creationId xmlns:a16="http://schemas.microsoft.com/office/drawing/2014/main" id="{DB418276-6BC4-5552-90CD-3E4E540D7DCD}"/>
              </a:ext>
            </a:extLst>
          </p:cNvPr>
          <p:cNvSpPr>
            <a:spLocks noGrp="1"/>
          </p:cNvSpPr>
          <p:nvPr>
            <p:ph idx="1"/>
          </p:nvPr>
        </p:nvSpPr>
        <p:spPr>
          <a:xfrm>
            <a:off x="1251678" y="2016690"/>
            <a:ext cx="10566695" cy="4600419"/>
          </a:xfrm>
        </p:spPr>
        <p:txBody>
          <a:bodyPr>
            <a:normAutofit lnSpcReduction="10000"/>
          </a:bodyPr>
          <a:lstStyle/>
          <a:p>
            <a:pPr marL="0" indent="0" algn="just">
              <a:buNone/>
            </a:pPr>
            <a:r>
              <a:rPr lang="ru-RU" sz="3200" b="1" dirty="0">
                <a:solidFill>
                  <a:schemeClr val="tx2">
                    <a:lumMod val="90000"/>
                    <a:lumOff val="10000"/>
                  </a:schemeClr>
                </a:solidFill>
              </a:rPr>
              <a:t>Самовыражение</a:t>
            </a:r>
          </a:p>
          <a:p>
            <a:pPr marL="0" indent="0" algn="just">
              <a:buNone/>
            </a:pPr>
            <a:endParaRPr lang="ru-RU" sz="100" b="1" dirty="0">
              <a:solidFill>
                <a:schemeClr val="tx2">
                  <a:lumMod val="90000"/>
                  <a:lumOff val="10000"/>
                </a:schemeClr>
              </a:solidFill>
            </a:endParaRPr>
          </a:p>
          <a:p>
            <a:pPr algn="just"/>
            <a:r>
              <a:rPr lang="ru-RU" sz="2400" dirty="0">
                <a:solidFill>
                  <a:schemeClr val="bg2">
                    <a:lumMod val="10000"/>
                  </a:schemeClr>
                </a:solidFill>
              </a:rPr>
              <a:t>Ни один человек не может существовать сколько-нибудь продолжительное время в обстановке, не допускающей самовыражения.</a:t>
            </a:r>
          </a:p>
          <a:p>
            <a:pPr algn="just"/>
            <a:r>
              <a:rPr lang="ru-RU" sz="2400" dirty="0">
                <a:solidFill>
                  <a:schemeClr val="bg2">
                    <a:lumMod val="10000"/>
                  </a:schemeClr>
                </a:solidFill>
              </a:rPr>
              <a:t>Возможность настроить систему под свои нужды является мощной причиной субъективного удовлетворения.</a:t>
            </a:r>
          </a:p>
          <a:p>
            <a:pPr algn="just"/>
            <a:r>
              <a:rPr lang="ru-RU" sz="2400" dirty="0">
                <a:solidFill>
                  <a:schemeClr val="bg2">
                    <a:lumMod val="10000"/>
                  </a:schemeClr>
                </a:solidFill>
              </a:rPr>
              <a:t>Настроенный под свои нужды интерфейс, судя по всему, снижает усталость работников и повышает их рабочее настроение.</a:t>
            </a:r>
          </a:p>
          <a:p>
            <a:pPr algn="just"/>
            <a:endParaRPr lang="ru-RU" sz="2400" dirty="0"/>
          </a:p>
          <a:p>
            <a:pPr marL="0" indent="0" algn="just">
              <a:buNone/>
            </a:pPr>
            <a:r>
              <a:rPr lang="ru-RU" sz="2400" dirty="0">
                <a:solidFill>
                  <a:schemeClr val="tx2">
                    <a:lumMod val="90000"/>
                    <a:lumOff val="10000"/>
                  </a:schemeClr>
                </a:solidFill>
              </a:rPr>
              <a:t>Проблема здесь в том, что это очень дорого стоит. Времени на самовыражение уходит крайне много.</a:t>
            </a:r>
          </a:p>
          <a:p>
            <a:pPr algn="just"/>
            <a:endParaRPr lang="ru-RU" sz="2400" dirty="0">
              <a:solidFill>
                <a:schemeClr val="tx2">
                  <a:lumMod val="90000"/>
                  <a:lumOff val="10000"/>
                </a:schemeClr>
              </a:solidFill>
            </a:endParaRPr>
          </a:p>
          <a:p>
            <a:pPr marL="0" indent="0" algn="just">
              <a:buNone/>
            </a:pPr>
            <a:endParaRPr lang="ru-RU" sz="100" b="1" dirty="0">
              <a:solidFill>
                <a:schemeClr val="tx2">
                  <a:lumMod val="90000"/>
                  <a:lumOff val="10000"/>
                </a:schemeClr>
              </a:solidFill>
            </a:endParaRPr>
          </a:p>
          <a:p>
            <a:pPr marL="0" indent="0" algn="just">
              <a:buNone/>
            </a:pPr>
            <a:endParaRPr lang="ru-RU" sz="100" dirty="0">
              <a:solidFill>
                <a:schemeClr val="bg2">
                  <a:lumMod val="10000"/>
                </a:schemeClr>
              </a:solidFill>
            </a:endParaRPr>
          </a:p>
        </p:txBody>
      </p:sp>
    </p:spTree>
    <p:extLst>
      <p:ext uri="{BB962C8B-B14F-4D97-AF65-F5344CB8AC3E}">
        <p14:creationId xmlns:p14="http://schemas.microsoft.com/office/powerpoint/2010/main" val="38777803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8507AA5-CBB5-2AAF-7BF9-E2A22D777AD7}"/>
              </a:ext>
            </a:extLst>
          </p:cNvPr>
          <p:cNvSpPr>
            <a:spLocks noGrp="1"/>
          </p:cNvSpPr>
          <p:nvPr>
            <p:ph type="ctrTitle"/>
          </p:nvPr>
        </p:nvSpPr>
        <p:spPr>
          <a:xfrm>
            <a:off x="1078522" y="1231506"/>
            <a:ext cx="10318418" cy="4394988"/>
          </a:xfrm>
        </p:spPr>
        <p:txBody>
          <a:bodyPr/>
          <a:lstStyle/>
          <a:p>
            <a:r>
              <a:rPr lang="ru-RU" sz="5400" cap="none" dirty="0"/>
              <a:t>КРИТЕРИИ КАЧЕСТВА ИНТЕРФЕЙСА ПОЛЬЗОВАТЕЛЯ</a:t>
            </a:r>
          </a:p>
        </p:txBody>
      </p:sp>
      <p:sp>
        <p:nvSpPr>
          <p:cNvPr id="3" name="Подзаголовок 2">
            <a:extLst>
              <a:ext uri="{FF2B5EF4-FFF2-40B4-BE49-F238E27FC236}">
                <a16:creationId xmlns:a16="http://schemas.microsoft.com/office/drawing/2014/main" id="{8B74B899-EFB5-BA7D-8645-6F80EA7FF1D1}"/>
              </a:ext>
            </a:extLst>
          </p:cNvPr>
          <p:cNvSpPr>
            <a:spLocks noGrp="1"/>
          </p:cNvSpPr>
          <p:nvPr>
            <p:ph type="subTitle" idx="1"/>
          </p:nvPr>
        </p:nvSpPr>
        <p:spPr>
          <a:xfrm>
            <a:off x="2215044" y="5892403"/>
            <a:ext cx="8045373" cy="742279"/>
          </a:xfrm>
        </p:spPr>
        <p:txBody>
          <a:bodyPr>
            <a:normAutofit fontScale="92500"/>
          </a:bodyPr>
          <a:lstStyle/>
          <a:p>
            <a:r>
              <a:rPr lang="ru-RU" sz="1800" i="0" u="none" strike="noStrike" dirty="0">
                <a:effectLst/>
                <a:latin typeface="Arial Cyr" panose="020B0604020202020204" pitchFamily="34" charset="0"/>
              </a:rPr>
              <a:t>Основы проектирования пользовательского интерфейса программного средства</a:t>
            </a:r>
            <a:endParaRPr lang="ru-RU" dirty="0"/>
          </a:p>
        </p:txBody>
      </p:sp>
    </p:spTree>
    <p:extLst>
      <p:ext uri="{BB962C8B-B14F-4D97-AF65-F5344CB8AC3E}">
        <p14:creationId xmlns:p14="http://schemas.microsoft.com/office/powerpoint/2010/main" val="1639177575"/>
      </p:ext>
    </p:extLst>
  </p:cSld>
  <p:clrMapOvr>
    <a:masterClrMapping/>
  </p:clrMapOvr>
</p:sld>
</file>

<file path=ppt/theme/theme1.xml><?xml version="1.0" encoding="utf-8"?>
<a:theme xmlns:a="http://schemas.openxmlformats.org/drawingml/2006/main" name="Эмблема">
  <a:themeElements>
    <a:clrScheme name="Эмблема">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Эмблема">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Эмблема">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Эмблема</Template>
  <TotalTime>1564</TotalTime>
  <Words>2375</Words>
  <Application>Microsoft Office PowerPoint</Application>
  <PresentationFormat>Широкоэкранный</PresentationFormat>
  <Paragraphs>447</Paragraphs>
  <Slides>50</Slides>
  <Notes>48</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50</vt:i4>
      </vt:variant>
    </vt:vector>
  </HeadingPairs>
  <TitlesOfParts>
    <vt:vector size="57" baseType="lpstr">
      <vt:lpstr>Arial</vt:lpstr>
      <vt:lpstr>Arial Cyr</vt:lpstr>
      <vt:lpstr>Calibri</vt:lpstr>
      <vt:lpstr>Corbel</vt:lpstr>
      <vt:lpstr>Gill Sans MT</vt:lpstr>
      <vt:lpstr>Impact</vt:lpstr>
      <vt:lpstr>Эмблема</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lpstr>КРИТЕРИИ КАЧЕСТВА ИНТЕРФЕЙСА ПОЛЬЗОВАТЕЛЯ</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Катя Абибок</dc:creator>
  <cp:lastModifiedBy>Катя Абибок</cp:lastModifiedBy>
  <cp:revision>183</cp:revision>
  <dcterms:created xsi:type="dcterms:W3CDTF">2024-08-20T05:32:48Z</dcterms:created>
  <dcterms:modified xsi:type="dcterms:W3CDTF">2024-08-28T08:30:57Z</dcterms:modified>
</cp:coreProperties>
</file>